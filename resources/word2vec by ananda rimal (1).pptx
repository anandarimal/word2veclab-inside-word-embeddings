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Times New Roman Bold" charset="1" panose="02020803070505020304"/>
      <p:regular r:id="rId33"/>
    </p:embeddedFont>
    <p:embeddedFont>
      <p:font typeface="Times New Roman" charset="1" panose="020206030504050203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67703" cy="10287000"/>
          </a:xfrm>
          <a:custGeom>
            <a:avLst/>
            <a:gdLst/>
            <a:ahLst/>
            <a:cxnLst/>
            <a:rect r="r" b="b" t="t" l="l"/>
            <a:pathLst>
              <a:path h="10287000" w="18267703">
                <a:moveTo>
                  <a:pt x="0" y="0"/>
                </a:moveTo>
                <a:lnTo>
                  <a:pt x="18267703" y="0"/>
                </a:lnTo>
                <a:lnTo>
                  <a:pt x="1826770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9092" y="1613583"/>
            <a:ext cx="17170886" cy="5740488"/>
          </a:xfrm>
          <a:custGeom>
            <a:avLst/>
            <a:gdLst/>
            <a:ahLst/>
            <a:cxnLst/>
            <a:rect r="r" b="b" t="t" l="l"/>
            <a:pathLst>
              <a:path h="5740488" w="17170886">
                <a:moveTo>
                  <a:pt x="0" y="0"/>
                </a:moveTo>
                <a:lnTo>
                  <a:pt x="17170886" y="0"/>
                </a:lnTo>
                <a:lnTo>
                  <a:pt x="17170886" y="5740488"/>
                </a:lnTo>
                <a:lnTo>
                  <a:pt x="0" y="5740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7896" y="41835"/>
            <a:ext cx="10180581" cy="9069972"/>
          </a:xfrm>
          <a:custGeom>
            <a:avLst/>
            <a:gdLst/>
            <a:ahLst/>
            <a:cxnLst/>
            <a:rect r="r" b="b" t="t" l="l"/>
            <a:pathLst>
              <a:path h="9069972" w="10180581">
                <a:moveTo>
                  <a:pt x="0" y="0"/>
                </a:moveTo>
                <a:lnTo>
                  <a:pt x="10180581" y="0"/>
                </a:lnTo>
                <a:lnTo>
                  <a:pt x="10180581" y="9069972"/>
                </a:lnTo>
                <a:lnTo>
                  <a:pt x="0" y="9069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43490" y="1951724"/>
            <a:ext cx="8074049" cy="4046895"/>
          </a:xfrm>
          <a:custGeom>
            <a:avLst/>
            <a:gdLst/>
            <a:ahLst/>
            <a:cxnLst/>
            <a:rect r="r" b="b" t="t" l="l"/>
            <a:pathLst>
              <a:path h="4046895" w="8074049">
                <a:moveTo>
                  <a:pt x="0" y="0"/>
                </a:moveTo>
                <a:lnTo>
                  <a:pt x="8074049" y="0"/>
                </a:lnTo>
                <a:lnTo>
                  <a:pt x="8074049" y="4046895"/>
                </a:lnTo>
                <a:lnTo>
                  <a:pt x="0" y="40468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549104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08760" y="1577340"/>
            <a:ext cx="15361920" cy="685800"/>
            <a:chOff x="0" y="0"/>
            <a:chExt cx="2048256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82561" cy="914400"/>
            </a:xfrm>
            <a:custGeom>
              <a:avLst/>
              <a:gdLst/>
              <a:ahLst/>
              <a:cxnLst/>
              <a:rect r="r" b="b" t="t" l="l"/>
              <a:pathLst>
                <a:path h="91440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6464" r="0" b="-3864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4825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Computers cannot understand words directly. They need numbers.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99235" y="2733675"/>
            <a:ext cx="5642610" cy="1664970"/>
            <a:chOff x="0" y="0"/>
            <a:chExt cx="7523480" cy="2219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23480" cy="2219960"/>
            </a:xfrm>
            <a:custGeom>
              <a:avLst/>
              <a:gdLst/>
              <a:ahLst/>
              <a:cxnLst/>
              <a:rect r="r" b="b" t="t" l="l"/>
              <a:pathLst>
                <a:path h="2219960" w="7523480">
                  <a:moveTo>
                    <a:pt x="0" y="0"/>
                  </a:moveTo>
                  <a:lnTo>
                    <a:pt x="7523480" y="0"/>
                  </a:lnTo>
                  <a:lnTo>
                    <a:pt x="7523480" y="2219960"/>
                  </a:lnTo>
                  <a:lnTo>
                    <a:pt x="0" y="2219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35" r="0" b="-16035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714500" y="2907792"/>
            <a:ext cx="5143500" cy="1303020"/>
            <a:chOff x="0" y="0"/>
            <a:chExt cx="6858000" cy="1737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580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6858000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“I love cats”</a:t>
              </a:r>
            </a:p>
            <a:p>
              <a:pPr algn="ctr">
                <a:lnSpc>
                  <a:spcPts val="4680"/>
                </a:lnSpc>
              </a:pPr>
              <a:r>
                <a:rPr lang="en-US" sz="3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“I love dogs”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14500" y="4594860"/>
            <a:ext cx="5212080" cy="548640"/>
            <a:chOff x="0" y="0"/>
            <a:chExt cx="694944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49440" cy="731520"/>
            </a:xfrm>
            <a:custGeom>
              <a:avLst/>
              <a:gdLst/>
              <a:ahLst/>
              <a:cxnLst/>
              <a:rect r="r" b="b" t="t" l="l"/>
              <a:pathLst>
                <a:path h="731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9494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Using One-Hot Encoding</a:t>
              </a:r>
            </a:p>
          </p:txBody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1028700" y="5349240"/>
          <a:ext cx="6953250" cy="2857500"/>
        </p:xfrm>
        <a:graphic>
          <a:graphicData uri="http://schemas.openxmlformats.org/drawingml/2006/table">
            <a:tbl>
              <a:tblPr/>
              <a:tblGrid>
                <a:gridCol w="1390650"/>
                <a:gridCol w="1390650"/>
                <a:gridCol w="1390650"/>
                <a:gridCol w="1390650"/>
                <a:gridCol w="1390650"/>
              </a:tblGrid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Vocabulary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cat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dog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apple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mango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mango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7" id="17"/>
          <p:cNvGrpSpPr/>
          <p:nvPr/>
        </p:nvGrpSpPr>
        <p:grpSpPr>
          <a:xfrm rot="0">
            <a:off x="9591675" y="2733675"/>
            <a:ext cx="7425690" cy="4956810"/>
            <a:chOff x="0" y="0"/>
            <a:chExt cx="9900920" cy="6609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00920" cy="6609080"/>
            </a:xfrm>
            <a:custGeom>
              <a:avLst/>
              <a:gdLst/>
              <a:ahLst/>
              <a:cxnLst/>
              <a:rect r="r" b="b" t="t" l="l"/>
              <a:pathLst>
                <a:path h="6609080" w="9900920">
                  <a:moveTo>
                    <a:pt x="0" y="0"/>
                  </a:moveTo>
                  <a:lnTo>
                    <a:pt x="9900920" y="0"/>
                  </a:lnTo>
                  <a:lnTo>
                    <a:pt x="9900920" y="6609080"/>
                  </a:lnTo>
                  <a:lnTo>
                    <a:pt x="0" y="6609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645" t="0" r="-35645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012680" y="3154680"/>
            <a:ext cx="6583680" cy="617220"/>
            <a:chOff x="0" y="0"/>
            <a:chExt cx="8778240" cy="822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78240" cy="822960"/>
            </a:xfrm>
            <a:custGeom>
              <a:avLst/>
              <a:gdLst/>
              <a:ahLst/>
              <a:cxnLst/>
              <a:rect r="r" b="b" t="t" l="l"/>
              <a:pathLst>
                <a:path h="8229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877824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Problem: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012680" y="4183380"/>
            <a:ext cx="6515100" cy="2468880"/>
            <a:chOff x="0" y="0"/>
            <a:chExt cx="8686800" cy="3291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86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8" r="0" b="-141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8686800" cy="3320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According to one-hot vectors, cat is not more similar to dog than to apple.</a:t>
              </a:r>
            </a:p>
            <a:p>
              <a:pPr algn="l">
                <a:lnSpc>
                  <a:spcPts val="4500"/>
                </a:lnSpc>
              </a:pPr>
            </a:p>
            <a:p>
              <a:pPr algn="l">
                <a:lnSpc>
                  <a:spcPts val="4500"/>
                </a:lnSpc>
              </a:pPr>
              <a:r>
                <a:rPr lang="en-US" sz="3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All different words are treated as equally unrelated.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4179" y="380709"/>
            <a:ext cx="16240885" cy="9135498"/>
          </a:xfrm>
          <a:custGeom>
            <a:avLst/>
            <a:gdLst/>
            <a:ahLst/>
            <a:cxnLst/>
            <a:rect r="r" b="b" t="t" l="l"/>
            <a:pathLst>
              <a:path h="9135498" w="16240885">
                <a:moveTo>
                  <a:pt x="0" y="0"/>
                </a:moveTo>
                <a:lnTo>
                  <a:pt x="16240885" y="0"/>
                </a:lnTo>
                <a:lnTo>
                  <a:pt x="16240885" y="9135498"/>
                </a:lnTo>
                <a:lnTo>
                  <a:pt x="0" y="9135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549104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839"/>
                </a:lnSpc>
              </a:pPr>
              <a:r>
                <a:rPr lang="en-US" sz="57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We Need Word2Vec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2015" y="1362075"/>
            <a:ext cx="7974330" cy="8111490"/>
            <a:chOff x="0" y="0"/>
            <a:chExt cx="10632440" cy="10815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32440" cy="10815320"/>
            </a:xfrm>
            <a:custGeom>
              <a:avLst/>
              <a:gdLst/>
              <a:ahLst/>
              <a:cxnLst/>
              <a:rect r="r" b="b" t="t" l="l"/>
              <a:pathLst>
                <a:path h="10815320" w="10632440">
                  <a:moveTo>
                    <a:pt x="0" y="0"/>
                  </a:moveTo>
                  <a:lnTo>
                    <a:pt x="10632440" y="0"/>
                  </a:lnTo>
                  <a:lnTo>
                    <a:pt x="10632440" y="10815320"/>
                  </a:lnTo>
                  <a:lnTo>
                    <a:pt x="0" y="10815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0510" t="0" r="-80510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71600" y="1714500"/>
            <a:ext cx="6995160" cy="891540"/>
            <a:chOff x="0" y="0"/>
            <a:chExt cx="9326880" cy="1188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268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882" r="0" b="-1028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9326880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sz="34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Words that appear in similar contexts tend to have similar meanings.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36395" y="2802255"/>
            <a:ext cx="5916930" cy="1184910"/>
            <a:chOff x="0" y="0"/>
            <a:chExt cx="7889240" cy="1579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89240" cy="1579880"/>
            </a:xfrm>
            <a:custGeom>
              <a:avLst/>
              <a:gdLst/>
              <a:ahLst/>
              <a:cxnLst/>
              <a:rect r="r" b="b" t="t" l="l"/>
              <a:pathLst>
                <a:path h="1579880" w="7889240">
                  <a:moveTo>
                    <a:pt x="0" y="0"/>
                  </a:moveTo>
                  <a:lnTo>
                    <a:pt x="7889240" y="0"/>
                  </a:lnTo>
                  <a:lnTo>
                    <a:pt x="7889240" y="1579880"/>
                  </a:lnTo>
                  <a:lnTo>
                    <a:pt x="0" y="1579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299" r="0" b="-47299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851660" y="2935224"/>
            <a:ext cx="5486400" cy="932688"/>
            <a:chOff x="0" y="0"/>
            <a:chExt cx="7315200" cy="12435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7315200" cy="1262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have a pet cat.</a:t>
              </a:r>
            </a:p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 have a pet dog.        cat ≈ dog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36395" y="4320540"/>
            <a:ext cx="7021438" cy="1243965"/>
            <a:chOff x="0" y="0"/>
            <a:chExt cx="9361917" cy="16586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61918" cy="1658620"/>
            </a:xfrm>
            <a:custGeom>
              <a:avLst/>
              <a:gdLst/>
              <a:ahLst/>
              <a:cxnLst/>
              <a:rect r="r" b="b" t="t" l="l"/>
              <a:pathLst>
                <a:path h="1658620" w="9361918">
                  <a:moveTo>
                    <a:pt x="0" y="0"/>
                  </a:moveTo>
                  <a:lnTo>
                    <a:pt x="9361918" y="0"/>
                  </a:lnTo>
                  <a:lnTo>
                    <a:pt x="9361918" y="1658620"/>
                  </a:lnTo>
                  <a:lnTo>
                    <a:pt x="0" y="16586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054" r="15730" b="-40307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28286" y="6580074"/>
            <a:ext cx="7132320" cy="1303020"/>
            <a:chOff x="0" y="0"/>
            <a:chExt cx="9509760" cy="1737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654" r="0" b="-5665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950976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Idea: if two words occur in similar contexts, they should have similar vector representations.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91675" y="1362075"/>
            <a:ext cx="7837170" cy="8111490"/>
            <a:chOff x="0" y="0"/>
            <a:chExt cx="10449560" cy="10815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49560" cy="10815320"/>
            </a:xfrm>
            <a:custGeom>
              <a:avLst/>
              <a:gdLst/>
              <a:ahLst/>
              <a:cxnLst/>
              <a:rect r="r" b="b" t="t" l="l"/>
              <a:pathLst>
                <a:path h="10815320" w="10449560">
                  <a:moveTo>
                    <a:pt x="0" y="0"/>
                  </a:moveTo>
                  <a:lnTo>
                    <a:pt x="10449560" y="0"/>
                  </a:lnTo>
                  <a:lnTo>
                    <a:pt x="10449560" y="10815320"/>
                  </a:lnTo>
                  <a:lnTo>
                    <a:pt x="0" y="10815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2794" t="0" r="-82794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875520" y="1714500"/>
            <a:ext cx="7269480" cy="685800"/>
            <a:chOff x="0" y="0"/>
            <a:chExt cx="969264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92640" cy="914400"/>
            </a:xfrm>
            <a:custGeom>
              <a:avLst/>
              <a:gdLst/>
              <a:ahLst/>
              <a:cxnLst/>
              <a:rect r="r" b="b" t="t" l="l"/>
              <a:pathLst>
                <a:path h="9144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69264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What is Word2Vec?</a:t>
              </a:r>
            </a:p>
          </p:txBody>
        </p:sp>
      </p:grp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9944100" y="2674620"/>
          <a:ext cx="7105650" cy="2857500"/>
        </p:xfrm>
        <a:graphic>
          <a:graphicData uri="http://schemas.openxmlformats.org/drawingml/2006/table">
            <a:tbl>
              <a:tblPr/>
              <a:tblGrid>
                <a:gridCol w="1923504"/>
                <a:gridCol w="5182146"/>
              </a:tblGrid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Vector Representation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[ 0.81, 0.72, 0.15, ... 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[ 0.79, 0.70, 0.18, ... 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 -0.21, 0.13, 0.91, ... 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mango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 -0.22, 0.11, 0.92, ... 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6" id="26"/>
          <p:cNvGrpSpPr/>
          <p:nvPr/>
        </p:nvGrpSpPr>
        <p:grpSpPr>
          <a:xfrm rot="0">
            <a:off x="10218420" y="5966460"/>
            <a:ext cx="6720840" cy="2432038"/>
            <a:chOff x="0" y="0"/>
            <a:chExt cx="8961120" cy="324271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61120" cy="3242717"/>
            </a:xfrm>
            <a:custGeom>
              <a:avLst/>
              <a:gdLst/>
              <a:ahLst/>
              <a:cxnLst/>
              <a:rect r="r" b="b" t="t" l="l"/>
              <a:pathLst>
                <a:path h="3242717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3242717"/>
                  </a:lnTo>
                  <a:lnTo>
                    <a:pt x="0" y="32427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87" r="0" b="949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8961120" cy="3271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Benefits: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similar words have similar vectors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captures meaning and relationships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dense vectors are efficient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useful for many NLP tasks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84141" y="4428172"/>
            <a:ext cx="702143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eat a red apple.</a:t>
            </a:r>
          </a:p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eat a ripe mango. apple ≈ mango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4864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549104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Intuitive View of Embedding Dimensions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3020" y="1440180"/>
            <a:ext cx="15636240" cy="617220"/>
            <a:chOff x="0" y="0"/>
            <a:chExt cx="20848320" cy="822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48320" cy="822960"/>
            </a:xfrm>
            <a:custGeom>
              <a:avLst/>
              <a:gdLst/>
              <a:ahLst/>
              <a:cxnLst/>
              <a:rect r="r" b="b" t="t" l="l"/>
              <a:pathLst>
                <a:path h="82296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3620" r="0" b="-4436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084832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Illustrative dimensions only: real Word2Vec dimensions are latent, not manually named.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97280" y="2743200"/>
          <a:ext cx="15716250" cy="5143500"/>
        </p:xfrm>
        <a:graphic>
          <a:graphicData uri="http://schemas.openxmlformats.org/drawingml/2006/table">
            <a:tbl>
              <a:tblPr/>
              <a:tblGrid>
                <a:gridCol w="2454257"/>
                <a:gridCol w="1981418"/>
                <a:gridCol w="1981418"/>
                <a:gridCol w="1981418"/>
                <a:gridCol w="1981418"/>
                <a:gridCol w="1981418"/>
                <a:gridCol w="1373483"/>
                <a:gridCol w="1981418"/>
              </a:tblGrid>
              <a:tr h="857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battle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horse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king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man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queen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...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woman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authority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 tail?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rich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gender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549104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Illustrative Semantic Dimensions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303020"/>
            <a:ext cx="15773400" cy="548640"/>
            <a:chOff x="0" y="0"/>
            <a:chExt cx="210312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This slide is a teaching analogy, not real Word2Vec internal dimensions.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617220" y="1851660"/>
          <a:ext cx="15335250" cy="3657600"/>
        </p:xfrm>
        <a:graphic>
          <a:graphicData uri="http://schemas.openxmlformats.org/drawingml/2006/table">
            <a:tbl>
              <a:tblPr/>
              <a:tblGrid>
                <a:gridCol w="1916906"/>
                <a:gridCol w="2052217"/>
                <a:gridCol w="2052217"/>
                <a:gridCol w="2052217"/>
                <a:gridCol w="2052217"/>
                <a:gridCol w="2052217"/>
                <a:gridCol w="1105040"/>
                <a:gridCol w="2052217"/>
              </a:tblGrid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battle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horse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king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man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queen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...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woman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authority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...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...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 tail?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...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rich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...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gender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...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097280" y="6309360"/>
            <a:ext cx="16459200" cy="822960"/>
            <a:chOff x="0" y="0"/>
            <a:chExt cx="2194560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194560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king − man + woman ≈ queen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577340" y="7612380"/>
          <a:ext cx="15087600" cy="1295400"/>
        </p:xfrm>
        <a:graphic>
          <a:graphicData uri="http://schemas.openxmlformats.org/drawingml/2006/table">
            <a:tbl>
              <a:tblPr/>
              <a:tblGrid>
                <a:gridCol w="3771900"/>
                <a:gridCol w="3771900"/>
                <a:gridCol w="3771900"/>
                <a:gridCol w="3771900"/>
              </a:tblGrid>
              <a:tr h="647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king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man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woman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result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[1,0,0,1,−1]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[0.2,0,0,0.3,−1]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[0.2,0,0,0.2,1]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[1.0,0,0,0.9,1]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549104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Sparse Vector vs Dense Vector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5920" y="1303020"/>
            <a:ext cx="6583680" cy="685800"/>
            <a:chOff x="0" y="0"/>
            <a:chExt cx="877824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78240" cy="914400"/>
            </a:xfrm>
            <a:custGeom>
              <a:avLst/>
              <a:gdLst/>
              <a:ahLst/>
              <a:cxnLst/>
              <a:rect r="r" b="b" t="t" l="l"/>
              <a:pathLst>
                <a:path h="9144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77824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Sparse vector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38360" y="1303020"/>
            <a:ext cx="6583680" cy="685800"/>
            <a:chOff x="0" y="0"/>
            <a:chExt cx="877824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78240" cy="914400"/>
            </a:xfrm>
            <a:custGeom>
              <a:avLst/>
              <a:gdLst/>
              <a:ahLst/>
              <a:cxnLst/>
              <a:rect r="r" b="b" t="t" l="l"/>
              <a:pathLst>
                <a:path h="9144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77824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Dense vector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4855" y="2116455"/>
            <a:ext cx="8111490" cy="7357110"/>
            <a:chOff x="0" y="0"/>
            <a:chExt cx="10815320" cy="9809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15320" cy="9809480"/>
            </a:xfrm>
            <a:custGeom>
              <a:avLst/>
              <a:gdLst/>
              <a:ahLst/>
              <a:cxnLst/>
              <a:rect r="r" b="b" t="t" l="l"/>
              <a:pathLst>
                <a:path h="9809480" w="10815320">
                  <a:moveTo>
                    <a:pt x="0" y="0"/>
                  </a:moveTo>
                  <a:lnTo>
                    <a:pt x="10815320" y="0"/>
                  </a:lnTo>
                  <a:lnTo>
                    <a:pt x="10815320" y="9809480"/>
                  </a:lnTo>
                  <a:lnTo>
                    <a:pt x="0" y="9809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371" t="0" r="-66371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2188054"/>
            <a:ext cx="7132320" cy="2432038"/>
            <a:chOff x="0" y="0"/>
            <a:chExt cx="9509760" cy="32427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09760" cy="3242717"/>
            </a:xfrm>
            <a:custGeom>
              <a:avLst/>
              <a:gdLst/>
              <a:ahLst/>
              <a:cxnLst/>
              <a:rect r="r" b="b" t="t" l="l"/>
              <a:pathLst>
                <a:path h="3242717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242717"/>
                  </a:lnTo>
                  <a:lnTo>
                    <a:pt x="0" y="32427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304" r="0" b="901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9509760" cy="3271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One-Hot / Bag-of-Words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very high dimensional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mostly zeros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does not capture similarity</a:t>
              </a:r>
            </a:p>
          </p:txBody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1162050" y="4819326"/>
          <a:ext cx="7067550" cy="2667000"/>
        </p:xfrm>
        <a:graphic>
          <a:graphicData uri="http://schemas.openxmlformats.org/drawingml/2006/table">
            <a:tbl>
              <a:tblPr/>
              <a:tblGrid>
                <a:gridCol w="1009650"/>
                <a:gridCol w="1009650"/>
                <a:gridCol w="1009650"/>
                <a:gridCol w="1009650"/>
                <a:gridCol w="1009650"/>
                <a:gridCol w="1009650"/>
                <a:gridCol w="1009650"/>
              </a:tblGrid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cat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dog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apple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mango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king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queen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king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7" id="17"/>
          <p:cNvGrpSpPr/>
          <p:nvPr/>
        </p:nvGrpSpPr>
        <p:grpSpPr>
          <a:xfrm rot="0">
            <a:off x="1162050" y="7819701"/>
            <a:ext cx="6858000" cy="950584"/>
            <a:chOff x="0" y="0"/>
            <a:chExt cx="9144000" cy="12674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0" cy="1267445"/>
            </a:xfrm>
            <a:custGeom>
              <a:avLst/>
              <a:gdLst/>
              <a:ahLst/>
              <a:cxnLst/>
              <a:rect r="r" b="b" t="t" l="l"/>
              <a:pathLst>
                <a:path h="1267445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67445"/>
                  </a:lnTo>
                  <a:lnTo>
                    <a:pt x="0" y="12674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717" r="0" b="-6943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9144000" cy="1286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Vector dimension = 6  →  83.3% zeros in this toy example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54515" y="2116455"/>
            <a:ext cx="8111490" cy="7357110"/>
            <a:chOff x="0" y="0"/>
            <a:chExt cx="10815320" cy="9809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15320" cy="9809480"/>
            </a:xfrm>
            <a:custGeom>
              <a:avLst/>
              <a:gdLst/>
              <a:ahLst/>
              <a:cxnLst/>
              <a:rect r="r" b="b" t="t" l="l"/>
              <a:pathLst>
                <a:path h="9809480" w="10815320">
                  <a:moveTo>
                    <a:pt x="0" y="0"/>
                  </a:moveTo>
                  <a:lnTo>
                    <a:pt x="10815320" y="0"/>
                  </a:lnTo>
                  <a:lnTo>
                    <a:pt x="10815320" y="9809480"/>
                  </a:lnTo>
                  <a:lnTo>
                    <a:pt x="0" y="9809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371" t="0" r="-66371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126980" y="2116455"/>
            <a:ext cx="7132320" cy="2432038"/>
            <a:chOff x="0" y="0"/>
            <a:chExt cx="9509760" cy="324271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09760" cy="3242717"/>
            </a:xfrm>
            <a:custGeom>
              <a:avLst/>
              <a:gdLst/>
              <a:ahLst/>
              <a:cxnLst/>
              <a:rect r="r" b="b" t="t" l="l"/>
              <a:pathLst>
                <a:path h="3242717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242717"/>
                  </a:lnTo>
                  <a:lnTo>
                    <a:pt x="0" y="32427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304" r="0" b="901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509760" cy="3271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Word2Vec / GloVe / FastText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lower dimensional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few or no exact zeros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captures similarity and relationships</a:t>
              </a:r>
            </a:p>
          </p:txBody>
        </p:sp>
      </p:grp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9852660" y="4819326"/>
          <a:ext cx="7315200" cy="266700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−0.77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−0.72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king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−0.61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6" id="26"/>
          <p:cNvGrpSpPr/>
          <p:nvPr/>
        </p:nvGrpSpPr>
        <p:grpSpPr>
          <a:xfrm rot="0">
            <a:off x="10218420" y="7818120"/>
            <a:ext cx="6720840" cy="952165"/>
            <a:chOff x="0" y="0"/>
            <a:chExt cx="8961120" cy="12695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61120" cy="1269554"/>
            </a:xfrm>
            <a:custGeom>
              <a:avLst/>
              <a:gdLst/>
              <a:ahLst/>
              <a:cxnLst/>
              <a:rect r="r" b="b" t="t" l="l"/>
              <a:pathLst>
                <a:path h="126955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269554"/>
                  </a:lnTo>
                  <a:lnTo>
                    <a:pt x="0" y="126955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724" r="0" b="-6634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8961120" cy="1288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Vector dimension = 5  →  all values carry information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2927" y="-117402"/>
            <a:ext cx="17743124" cy="9980507"/>
          </a:xfrm>
          <a:custGeom>
            <a:avLst/>
            <a:gdLst/>
            <a:ahLst/>
            <a:cxnLst/>
            <a:rect r="r" b="b" t="t" l="l"/>
            <a:pathLst>
              <a:path h="9980507" w="17743124">
                <a:moveTo>
                  <a:pt x="0" y="0"/>
                </a:moveTo>
                <a:lnTo>
                  <a:pt x="17743124" y="0"/>
                </a:lnTo>
                <a:lnTo>
                  <a:pt x="17743124" y="9980507"/>
                </a:lnTo>
                <a:lnTo>
                  <a:pt x="0" y="9980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549104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Word Vectors in Space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0595" y="1430655"/>
            <a:ext cx="8522970" cy="7425690"/>
            <a:chOff x="0" y="0"/>
            <a:chExt cx="11363960" cy="9900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63960" cy="9900920"/>
            </a:xfrm>
            <a:custGeom>
              <a:avLst/>
              <a:gdLst/>
              <a:ahLst/>
              <a:cxnLst/>
              <a:rect r="r" b="b" t="t" l="l"/>
              <a:pathLst>
                <a:path h="9900920" w="11363960">
                  <a:moveTo>
                    <a:pt x="0" y="0"/>
                  </a:moveTo>
                  <a:lnTo>
                    <a:pt x="11363960" y="0"/>
                  </a:lnTo>
                  <a:lnTo>
                    <a:pt x="11363960" y="9900920"/>
                  </a:lnTo>
                  <a:lnTo>
                    <a:pt x="0" y="9900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785" t="0" r="-61785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03020" y="1714500"/>
            <a:ext cx="7818120" cy="685800"/>
            <a:chOff x="0" y="0"/>
            <a:chExt cx="1042416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24160" cy="914400"/>
            </a:xfrm>
            <a:custGeom>
              <a:avLst/>
              <a:gdLst/>
              <a:ahLst/>
              <a:cxnLst/>
              <a:rect r="r" b="b" t="t" l="l"/>
              <a:pathLst>
                <a:path h="91440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42416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2D/3D visualization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83080" y="2605571"/>
            <a:ext cx="6583680" cy="5061570"/>
            <a:chOff x="0" y="0"/>
            <a:chExt cx="8778240" cy="6748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78240" cy="6748760"/>
            </a:xfrm>
            <a:custGeom>
              <a:avLst/>
              <a:gdLst/>
              <a:ahLst/>
              <a:cxnLst/>
              <a:rect r="r" b="b" t="t" l="l"/>
              <a:pathLst>
                <a:path h="67487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748760"/>
                  </a:lnTo>
                  <a:lnTo>
                    <a:pt x="0" y="6748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0189" t="0" r="-30189" b="187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778240" cy="6777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queen       king</a:t>
              </a:r>
            </a:p>
            <a:p>
              <a:pPr algn="ctr">
                <a:lnSpc>
                  <a:spcPts val="4320"/>
                </a:lnSpc>
              </a:pP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woman       man</a:t>
              </a:r>
            </a:p>
            <a:p>
              <a:pPr algn="ctr">
                <a:lnSpc>
                  <a:spcPts val="4320"/>
                </a:lnSpc>
              </a:pP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food       dinner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meal       lunch</a:t>
              </a:r>
            </a:p>
            <a:p>
              <a:pPr algn="ctr">
                <a:lnSpc>
                  <a:spcPts val="4320"/>
                </a:lnSpc>
              </a:pP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car       vehicle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truck      bus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8820">
            <a:off x="1362065" y="7881938"/>
            <a:ext cx="742571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508760" y="8229600"/>
            <a:ext cx="7132320" cy="617220"/>
            <a:chOff x="0" y="0"/>
            <a:chExt cx="9509760" cy="822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09760" cy="822960"/>
            </a:xfrm>
            <a:custGeom>
              <a:avLst/>
              <a:gdLst/>
              <a:ahLst/>
              <a:cxnLst/>
              <a:rect r="r" b="b" t="t" l="l"/>
              <a:pathLst>
                <a:path h="822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160" r="0" b="-1751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950976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Similar words appear near each other after training.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34575" y="1430655"/>
            <a:ext cx="7425690" cy="7425690"/>
            <a:chOff x="0" y="0"/>
            <a:chExt cx="9900920" cy="9900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00920" cy="9900920"/>
            </a:xfrm>
            <a:custGeom>
              <a:avLst/>
              <a:gdLst/>
              <a:ahLst/>
              <a:cxnLst/>
              <a:rect r="r" b="b" t="t" l="l"/>
              <a:pathLst>
                <a:path h="9900920" w="9900920">
                  <a:moveTo>
                    <a:pt x="0" y="0"/>
                  </a:moveTo>
                  <a:lnTo>
                    <a:pt x="9900920" y="0"/>
                  </a:lnTo>
                  <a:lnTo>
                    <a:pt x="9900920" y="9900920"/>
                  </a:lnTo>
                  <a:lnTo>
                    <a:pt x="0" y="9900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355580" y="1714500"/>
            <a:ext cx="6583680" cy="617220"/>
            <a:chOff x="0" y="0"/>
            <a:chExt cx="8778240" cy="822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78240" cy="822960"/>
            </a:xfrm>
            <a:custGeom>
              <a:avLst/>
              <a:gdLst/>
              <a:ahLst/>
              <a:cxnLst/>
              <a:rect r="r" b="b" t="t" l="l"/>
              <a:pathLst>
                <a:path h="8229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877824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Example word vectors</a:t>
              </a:r>
            </a:p>
          </p:txBody>
        </p:sp>
      </p:grp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10355580" y="2606040"/>
          <a:ext cx="6572250" cy="5314950"/>
        </p:xfrm>
        <a:graphic>
          <a:graphicData uri="http://schemas.openxmlformats.org/drawingml/2006/table">
            <a:tbl>
              <a:tblPr/>
              <a:tblGrid>
                <a:gridCol w="2198304"/>
                <a:gridCol w="4373946"/>
              </a:tblGrid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[e1, e2, e3]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king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[0.68, 0.51, 0.12]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queen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[0.62, 0.49, 0.10]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[0.66, 0.52, 0.15]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woman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[0.60, 0.48, 0.11]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food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[−0.30, −0.70, 0.20]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dinner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[−0.28, −0.72, 0.18]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[0.80, −0.10, −0.40]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vehicle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[0.78, −0.12, −0.42]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0272" y="673533"/>
            <a:ext cx="9184272" cy="8200548"/>
          </a:xfrm>
          <a:custGeom>
            <a:avLst/>
            <a:gdLst/>
            <a:ahLst/>
            <a:cxnLst/>
            <a:rect r="r" b="b" t="t" l="l"/>
            <a:pathLst>
              <a:path h="8200548" w="9184272">
                <a:moveTo>
                  <a:pt x="0" y="0"/>
                </a:moveTo>
                <a:lnTo>
                  <a:pt x="9184272" y="0"/>
                </a:lnTo>
                <a:lnTo>
                  <a:pt x="9184272" y="8200548"/>
                </a:lnTo>
                <a:lnTo>
                  <a:pt x="0" y="82005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06" r="-11826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87072" y="1096323"/>
            <a:ext cx="9271094" cy="7354969"/>
          </a:xfrm>
          <a:custGeom>
            <a:avLst/>
            <a:gdLst/>
            <a:ahLst/>
            <a:cxnLst/>
            <a:rect r="r" b="b" t="t" l="l"/>
            <a:pathLst>
              <a:path h="7354969" w="9271094">
                <a:moveTo>
                  <a:pt x="0" y="0"/>
                </a:moveTo>
                <a:lnTo>
                  <a:pt x="9271093" y="0"/>
                </a:lnTo>
                <a:lnTo>
                  <a:pt x="9271093" y="7354969"/>
                </a:lnTo>
                <a:lnTo>
                  <a:pt x="0" y="73549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302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54864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549104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Types of Word2Vec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1600" y="1536192"/>
            <a:ext cx="15499080" cy="685800"/>
            <a:chOff x="0" y="0"/>
            <a:chExt cx="2066544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665439" cy="914400"/>
            </a:xfrm>
            <a:custGeom>
              <a:avLst/>
              <a:gdLst/>
              <a:ahLst/>
              <a:cxnLst/>
              <a:rect r="r" b="b" t="t" l="l"/>
              <a:pathLst>
                <a:path h="91440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0361" r="0" b="-39036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066544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Word2Vec has two main architectures for learning word embeddings from text.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7755" y="2733675"/>
            <a:ext cx="7837170" cy="6191250"/>
            <a:chOff x="0" y="0"/>
            <a:chExt cx="10449560" cy="825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560" cy="8255000"/>
            </a:xfrm>
            <a:custGeom>
              <a:avLst/>
              <a:gdLst/>
              <a:ahLst/>
              <a:cxnLst/>
              <a:rect r="r" b="b" t="t" l="l"/>
              <a:pathLst>
                <a:path h="8255000" w="10449560">
                  <a:moveTo>
                    <a:pt x="0" y="0"/>
                  </a:moveTo>
                  <a:lnTo>
                    <a:pt x="10449560" y="0"/>
                  </a:lnTo>
                  <a:lnTo>
                    <a:pt x="10449560" y="8255000"/>
                  </a:lnTo>
                  <a:lnTo>
                    <a:pt x="0" y="8255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1357" t="0" r="-51357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87755" y="3036163"/>
            <a:ext cx="7886700" cy="804317"/>
            <a:chOff x="0" y="0"/>
            <a:chExt cx="9939938" cy="10137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39938" cy="1013714"/>
            </a:xfrm>
            <a:custGeom>
              <a:avLst/>
              <a:gdLst/>
              <a:ahLst/>
              <a:cxnLst/>
              <a:rect r="r" b="b" t="t" l="l"/>
              <a:pathLst>
                <a:path h="1013714" w="9939938">
                  <a:moveTo>
                    <a:pt x="0" y="0"/>
                  </a:moveTo>
                  <a:lnTo>
                    <a:pt x="9939938" y="0"/>
                  </a:lnTo>
                  <a:lnTo>
                    <a:pt x="9939938" y="1013714"/>
                  </a:lnTo>
                  <a:lnTo>
                    <a:pt x="0" y="10137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204" r="2487" b="-13140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9939938" cy="1042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Continuous Bag of Words (CBOW)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5920" y="4183380"/>
            <a:ext cx="6720840" cy="822960"/>
            <a:chOff x="0" y="0"/>
            <a:chExt cx="896112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896112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Predicts the target word from its surrounding context words.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45920" y="5554980"/>
            <a:ext cx="6858000" cy="2331720"/>
            <a:chOff x="0" y="0"/>
            <a:chExt cx="9144000" cy="3108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0" cy="3108960"/>
            </a:xfrm>
            <a:custGeom>
              <a:avLst/>
              <a:gdLst/>
              <a:ahLst/>
              <a:cxnLst/>
              <a:rect r="r" b="b" t="t" l="l"/>
              <a:pathLst>
                <a:path h="31089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144000" cy="3137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points: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uses surrounding words to predict the center word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faster training compared to Skip-gram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works well for frequent words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85935" y="2733675"/>
            <a:ext cx="7837170" cy="6191250"/>
            <a:chOff x="0" y="0"/>
            <a:chExt cx="10449560" cy="8255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49560" cy="8255000"/>
            </a:xfrm>
            <a:custGeom>
              <a:avLst/>
              <a:gdLst/>
              <a:ahLst/>
              <a:cxnLst/>
              <a:rect r="r" b="b" t="t" l="l"/>
              <a:pathLst>
                <a:path h="8255000" w="10449560">
                  <a:moveTo>
                    <a:pt x="0" y="0"/>
                  </a:moveTo>
                  <a:lnTo>
                    <a:pt x="10449560" y="0"/>
                  </a:lnTo>
                  <a:lnTo>
                    <a:pt x="10449560" y="8255000"/>
                  </a:lnTo>
                  <a:lnTo>
                    <a:pt x="0" y="8255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1357" t="0" r="-51357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738360" y="3154680"/>
            <a:ext cx="7132320" cy="685800"/>
            <a:chOff x="0" y="0"/>
            <a:chExt cx="950976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09760" cy="914400"/>
            </a:xfrm>
            <a:custGeom>
              <a:avLst/>
              <a:gdLst/>
              <a:ahLst/>
              <a:cxnLst/>
              <a:rect r="r" b="b" t="t" l="l"/>
              <a:pathLst>
                <a:path h="9144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5097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Skip-gram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81260" y="4183380"/>
            <a:ext cx="6515100" cy="822960"/>
            <a:chOff x="0" y="0"/>
            <a:chExt cx="868680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68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256" r="0" b="-10425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8686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Predicts surrounding context words from a given target word.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944100" y="5554980"/>
            <a:ext cx="6858000" cy="2331720"/>
            <a:chOff x="0" y="0"/>
            <a:chExt cx="9144000" cy="3108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0" cy="3108960"/>
            </a:xfrm>
            <a:custGeom>
              <a:avLst/>
              <a:gdLst/>
              <a:ahLst/>
              <a:cxnLst/>
              <a:rect r="r" b="b" t="t" l="l"/>
              <a:pathLst>
                <a:path h="31089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9144000" cy="3137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points: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uses the center word to predict surrounding words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generally slower than CBOW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often works well for rare words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549104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Move to Actual Training and Math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303020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62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Prepare data for CBOW training: Tokenization → Vocabulary → Input-Target Pairs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116455"/>
            <a:ext cx="5212083" cy="6808470"/>
            <a:chOff x="0" y="0"/>
            <a:chExt cx="6949444" cy="9077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49444" cy="9077960"/>
            </a:xfrm>
            <a:custGeom>
              <a:avLst/>
              <a:gdLst/>
              <a:ahLst/>
              <a:cxnLst/>
              <a:rect r="r" b="b" t="t" l="l"/>
              <a:pathLst>
                <a:path h="9077960" w="6949444">
                  <a:moveTo>
                    <a:pt x="0" y="0"/>
                  </a:moveTo>
                  <a:lnTo>
                    <a:pt x="6949444" y="0"/>
                  </a:lnTo>
                  <a:lnTo>
                    <a:pt x="6949444" y="9077960"/>
                  </a:lnTo>
                  <a:lnTo>
                    <a:pt x="0" y="9077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8734" t="0" r="-116468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468880"/>
            <a:ext cx="4389120" cy="480060"/>
            <a:chOff x="0" y="0"/>
            <a:chExt cx="585216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52160" cy="640080"/>
            </a:xfrm>
            <a:custGeom>
              <a:avLst/>
              <a:gdLst/>
              <a:ahLst/>
              <a:cxnLst/>
              <a:rect r="r" b="b" t="t" l="l"/>
              <a:pathLst>
                <a:path h="640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585216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Text Data (24 tokens)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291840"/>
            <a:ext cx="4882401" cy="4457700"/>
            <a:chOff x="0" y="0"/>
            <a:chExt cx="6509868" cy="5943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09868" cy="5943600"/>
            </a:xfrm>
            <a:custGeom>
              <a:avLst/>
              <a:gdLst/>
              <a:ahLst/>
              <a:cxnLst/>
              <a:rect r="r" b="b" t="t" l="l"/>
              <a:pathLst>
                <a:path h="5943600" w="6509868">
                  <a:moveTo>
                    <a:pt x="0" y="0"/>
                  </a:moveTo>
                  <a:lnTo>
                    <a:pt x="6509868" y="0"/>
                  </a:lnTo>
                  <a:lnTo>
                    <a:pt x="6509868" y="5943600"/>
                  </a:lnTo>
                  <a:lnTo>
                    <a:pt x="0" y="5943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2148" t="0" r="-19236" b="3538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509868" cy="5962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quick brown fox jumps</a:t>
              </a:r>
            </a:p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over the lazy dog and the fox</a:t>
              </a:r>
            </a:p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runs into the forest and the</a:t>
              </a:r>
            </a:p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dog follows the fox quickly 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77340" y="7749540"/>
            <a:ext cx="3566160" cy="617220"/>
            <a:chOff x="0" y="0"/>
            <a:chExt cx="4754880" cy="822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54880" cy="822960"/>
            </a:xfrm>
            <a:custGeom>
              <a:avLst/>
              <a:gdLst/>
              <a:ahLst/>
              <a:cxnLst/>
              <a:rect r="r" b="b" t="t" l="l"/>
              <a:pathLst>
                <a:path h="8229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47548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Total tokens = 24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84660">
            <a:off x="6025401" y="5481638"/>
            <a:ext cx="77366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6917055" y="2116455"/>
            <a:ext cx="5093970" cy="6808470"/>
            <a:chOff x="0" y="0"/>
            <a:chExt cx="6791960" cy="9077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91960" cy="9077960"/>
            </a:xfrm>
            <a:custGeom>
              <a:avLst/>
              <a:gdLst/>
              <a:ahLst/>
              <a:cxnLst/>
              <a:rect r="r" b="b" t="t" l="l"/>
              <a:pathLst>
                <a:path h="9077960" w="6791960">
                  <a:moveTo>
                    <a:pt x="0" y="0"/>
                  </a:moveTo>
                  <a:lnTo>
                    <a:pt x="6791960" y="0"/>
                  </a:lnTo>
                  <a:lnTo>
                    <a:pt x="6791960" y="9077960"/>
                  </a:lnTo>
                  <a:lnTo>
                    <a:pt x="0" y="9077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1487" t="0" r="-121487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7269480" y="2468880"/>
            <a:ext cx="4389120" cy="480060"/>
            <a:chOff x="0" y="0"/>
            <a:chExt cx="585216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52160" cy="640080"/>
            </a:xfrm>
            <a:custGeom>
              <a:avLst/>
              <a:gdLst/>
              <a:ahLst/>
              <a:cxnLst/>
              <a:rect r="r" b="b" t="t" l="l"/>
              <a:pathLst>
                <a:path h="640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85216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Tokenization (24 tokens)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338060" y="3223260"/>
            <a:ext cx="4183380" cy="3840480"/>
            <a:chOff x="0" y="0"/>
            <a:chExt cx="5577840" cy="5120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778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7786" t="0" r="-6778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5577840" cy="5139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['the','quick','brown','fox',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'jumps','over','the','lazy',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'dog','and','the','fox','runs',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'into','the','forest','and',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'the','dog','follows','the',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'fox','quickly','.']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680960" y="7749540"/>
            <a:ext cx="3566160" cy="617220"/>
            <a:chOff x="0" y="0"/>
            <a:chExt cx="4754880" cy="822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54880" cy="822960"/>
            </a:xfrm>
            <a:custGeom>
              <a:avLst/>
              <a:gdLst/>
              <a:ahLst/>
              <a:cxnLst/>
              <a:rect r="r" b="b" t="t" l="l"/>
              <a:pathLst>
                <a:path h="8229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7548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Total tokens = 24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84660">
            <a:off x="12129021" y="5481638"/>
            <a:ext cx="77366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2" id="32"/>
          <p:cNvGrpSpPr/>
          <p:nvPr/>
        </p:nvGrpSpPr>
        <p:grpSpPr>
          <a:xfrm rot="0">
            <a:off x="13020675" y="2116455"/>
            <a:ext cx="4476750" cy="6808470"/>
            <a:chOff x="0" y="0"/>
            <a:chExt cx="5969000" cy="9077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969000" cy="9077960"/>
            </a:xfrm>
            <a:custGeom>
              <a:avLst/>
              <a:gdLst/>
              <a:ahLst/>
              <a:cxnLst/>
              <a:rect r="r" b="b" t="t" l="l"/>
              <a:pathLst>
                <a:path h="9077960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9077960"/>
                  </a:lnTo>
                  <a:lnTo>
                    <a:pt x="0" y="9077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5130" t="0" r="-145130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373100" y="2400300"/>
            <a:ext cx="3771900" cy="960120"/>
            <a:chOff x="0" y="0"/>
            <a:chExt cx="5029200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29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48" r="0" b="-2654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50292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Unique Vocabulary</a:t>
              </a:r>
            </a:p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(15 words)</a:t>
              </a:r>
            </a:p>
          </p:txBody>
        </p:sp>
      </p:grpSp>
      <p:graphicFrame>
        <p:nvGraphicFramePr>
          <p:cNvPr name="Table 37" id="37"/>
          <p:cNvGraphicFramePr>
            <a:graphicFrameLocks noGrp="true"/>
          </p:cNvGraphicFramePr>
          <p:nvPr/>
        </p:nvGraphicFramePr>
        <p:xfrm>
          <a:off x="13331952" y="3634740"/>
          <a:ext cx="3962400" cy="3600450"/>
        </p:xfrm>
        <a:graphic>
          <a:graphicData uri="http://schemas.openxmlformats.org/drawingml/2006/table">
            <a:tbl>
              <a:tblPr/>
              <a:tblGrid>
                <a:gridCol w="823645"/>
                <a:gridCol w="1157555"/>
                <a:gridCol w="823645"/>
                <a:gridCol w="1157555"/>
              </a:tblGrid>
              <a:tr h="400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Index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Index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quick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brown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into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fox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forest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jumps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follows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quickly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lazy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38" id="38"/>
          <p:cNvGrpSpPr/>
          <p:nvPr/>
        </p:nvGrpSpPr>
        <p:grpSpPr>
          <a:xfrm rot="0">
            <a:off x="13510260" y="7749540"/>
            <a:ext cx="3429000" cy="1175385"/>
            <a:chOff x="0" y="0"/>
            <a:chExt cx="4572000" cy="15671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572000" cy="1567180"/>
            </a:xfrm>
            <a:custGeom>
              <a:avLst/>
              <a:gdLst/>
              <a:ahLst/>
              <a:cxnLst/>
              <a:rect r="r" b="b" t="t" l="l"/>
              <a:pathLst>
                <a:path h="15671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67180"/>
                  </a:lnTo>
                  <a:lnTo>
                    <a:pt x="0" y="15671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588" r="0" b="1689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4572000" cy="1595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Vocabulary size V = 15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549104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CBOW Training Data Preparation (Window Size = 2)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1165860"/>
            <a:ext cx="16184880" cy="480060"/>
            <a:chOff x="0" y="0"/>
            <a:chExt cx="2157984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640080"/>
            </a:xfrm>
            <a:custGeom>
              <a:avLst/>
              <a:gdLst/>
              <a:ahLst/>
              <a:cxnLst/>
              <a:rect r="r" b="b" t="t" l="l"/>
              <a:pathLst>
                <a:path h="64008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6924" r="0" b="-6069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each target position, use two words on the left and two words on the right as context.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22960" y="1714500"/>
          <a:ext cx="16649700" cy="7600950"/>
        </p:xfrm>
        <a:graphic>
          <a:graphicData uri="http://schemas.openxmlformats.org/drawingml/2006/table">
            <a:tbl>
              <a:tblPr/>
              <a:tblGrid>
                <a:gridCol w="1387475"/>
                <a:gridCol w="12032365"/>
                <a:gridCol w="3229860"/>
              </a:tblGrid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Position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Context words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Target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[the, brown, fox, jumps]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quick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[the, quick, fox, jumps]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brown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[quick, brown, jumps, over]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fox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[brown, fox, over, the]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jumps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[fox, jumps, the, lazy]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[jumps, over, lazy, dog]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[over, the, dog, and]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lazy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[the, lazy, and, the]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[lazy, dog, the, fox]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[dog, and, fox, runs]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[and, the, runs, into]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fox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[the, fox, into, the]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[fox, runs, the, forest]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into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[runs, into, forest, and]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[into, the, and, the]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forest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[the, forest, the, dog]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[forest, and, dog, follows]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[and, the, follows, the]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[the, dog, the, fox]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follows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[dog, follows, fox, quickly]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097280" y="9601200"/>
            <a:ext cx="16184880" cy="438912"/>
            <a:chOff x="0" y="0"/>
            <a:chExt cx="21579840" cy="5852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79839" cy="585216"/>
            </a:xfrm>
            <a:custGeom>
              <a:avLst/>
              <a:gdLst/>
              <a:ahLst/>
              <a:cxnLst/>
              <a:rect r="r" b="b" t="t" l="l"/>
              <a:pathLst>
                <a:path h="58521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8510" r="0" b="-66851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57984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Total full-window training pairs = 20. First two and last two positions are skipped.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549104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CBOW: Input Context Words and Target Word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303020"/>
            <a:ext cx="16184880" cy="480060"/>
            <a:chOff x="0" y="0"/>
            <a:chExt cx="2157984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640080"/>
            </a:xfrm>
            <a:custGeom>
              <a:avLst/>
              <a:gdLst/>
              <a:ahLst/>
              <a:cxnLst/>
              <a:rect r="r" b="b" t="t" l="l"/>
              <a:pathLst>
                <a:path h="64008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6924" r="0" b="-6069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Window size = 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400300"/>
            <a:ext cx="16184880" cy="754380"/>
            <a:chOff x="0" y="0"/>
            <a:chExt cx="2157984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8042" r="0" b="-36804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579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    quick     brown     [ fox ]     jumps     over     the     lazy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19380">
            <a:off x="3762346" y="3355658"/>
            <a:ext cx="3379527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19380">
            <a:off x="9934546" y="3355658"/>
            <a:ext cx="3379527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3086100" y="3634740"/>
            <a:ext cx="4114800" cy="960120"/>
            <a:chOff x="0" y="0"/>
            <a:chExt cx="548640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486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Left context words</a:t>
              </a:r>
            </a:p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quick, brown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612380" y="3634740"/>
            <a:ext cx="1920240" cy="960120"/>
            <a:chOff x="0" y="0"/>
            <a:chExt cx="256032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603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56032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 word</a:t>
              </a:r>
            </a:p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fox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01200" y="3634740"/>
            <a:ext cx="4114800" cy="960120"/>
            <a:chOff x="0" y="0"/>
            <a:chExt cx="5486400" cy="1280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5486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Right context words</a:t>
              </a:r>
            </a:p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jumps, over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5476875"/>
            <a:ext cx="4819650" cy="2213610"/>
            <a:chOff x="0" y="0"/>
            <a:chExt cx="6426200" cy="2951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26200" cy="2951480"/>
            </a:xfrm>
            <a:custGeom>
              <a:avLst/>
              <a:gdLst/>
              <a:ahLst/>
              <a:cxnLst/>
              <a:rect r="r" b="b" t="t" l="l"/>
              <a:pathLst>
                <a:path h="2951480" w="6426200">
                  <a:moveTo>
                    <a:pt x="0" y="0"/>
                  </a:moveTo>
                  <a:lnTo>
                    <a:pt x="6426200" y="0"/>
                  </a:lnTo>
                  <a:lnTo>
                    <a:pt x="6426200" y="2951480"/>
                  </a:lnTo>
                  <a:lnTo>
                    <a:pt x="0" y="2951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928" t="0" r="-8928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71600" y="4711066"/>
            <a:ext cx="3977640" cy="2936557"/>
            <a:chOff x="0" y="0"/>
            <a:chExt cx="5303520" cy="391540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03520" cy="3915409"/>
            </a:xfrm>
            <a:custGeom>
              <a:avLst/>
              <a:gdLst/>
              <a:ahLst/>
              <a:cxnLst/>
              <a:rect r="r" b="b" t="t" l="l"/>
              <a:pathLst>
                <a:path h="3915409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3915409"/>
                  </a:lnTo>
                  <a:lnTo>
                    <a:pt x="0" y="39154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303" t="0" r="-5303" b="4161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5303520" cy="3943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Input context words (4)</a:t>
              </a:r>
            </a:p>
            <a:p>
              <a:pPr algn="ctr">
                <a:lnSpc>
                  <a:spcPts val="3600"/>
                </a:lnSpc>
              </a:pP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quick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brown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jumps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over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750368" y="5653087"/>
            <a:ext cx="4956810" cy="2213610"/>
            <a:chOff x="0" y="0"/>
            <a:chExt cx="6609080" cy="2951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090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2951480"/>
                  </a:lnTo>
                  <a:lnTo>
                    <a:pt x="0" y="2951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297" t="0" r="-7297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7239952" y="4785360"/>
            <a:ext cx="3977640" cy="2936557"/>
            <a:chOff x="0" y="0"/>
            <a:chExt cx="5303520" cy="391540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03520" cy="3915409"/>
            </a:xfrm>
            <a:custGeom>
              <a:avLst/>
              <a:gdLst/>
              <a:ahLst/>
              <a:cxnLst/>
              <a:rect r="r" b="b" t="t" l="l"/>
              <a:pathLst>
                <a:path h="3915409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3915409"/>
                  </a:lnTo>
                  <a:lnTo>
                    <a:pt x="0" y="39154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303" t="0" r="-5303" b="4161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5303520" cy="3943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Word indices</a:t>
              </a:r>
            </a:p>
            <a:p>
              <a:pPr algn="ctr">
                <a:lnSpc>
                  <a:spcPts val="3600"/>
                </a:lnSpc>
              </a:pP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quick → 1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brown → 2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jumps → 4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over → 5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609195" y="5476875"/>
            <a:ext cx="4545330" cy="2213610"/>
            <a:chOff x="0" y="0"/>
            <a:chExt cx="6060440" cy="29514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60440" cy="2951480"/>
            </a:xfrm>
            <a:custGeom>
              <a:avLst/>
              <a:gdLst/>
              <a:ahLst/>
              <a:cxnLst/>
              <a:rect r="r" b="b" t="t" l="l"/>
              <a:pathLst>
                <a:path h="2951480" w="6060440">
                  <a:moveTo>
                    <a:pt x="0" y="0"/>
                  </a:moveTo>
                  <a:lnTo>
                    <a:pt x="6060440" y="0"/>
                  </a:lnTo>
                  <a:lnTo>
                    <a:pt x="6060440" y="2951480"/>
                  </a:lnTo>
                  <a:lnTo>
                    <a:pt x="0" y="2951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484" t="0" r="-12484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098780" y="5829300"/>
            <a:ext cx="3566160" cy="1861185"/>
            <a:chOff x="0" y="0"/>
            <a:chExt cx="4754880" cy="24815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54880" cy="2481580"/>
            </a:xfrm>
            <a:custGeom>
              <a:avLst/>
              <a:gdLst/>
              <a:ahLst/>
              <a:cxnLst/>
              <a:rect r="r" b="b" t="t" l="l"/>
              <a:pathLst>
                <a:path h="24815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481580"/>
                  </a:lnTo>
                  <a:lnTo>
                    <a:pt x="0" y="2481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71" r="0" b="2950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4754880" cy="2510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 word (1)</a:t>
              </a:r>
            </a:p>
            <a:p>
              <a:pPr algn="ctr">
                <a:lnSpc>
                  <a:spcPts val="4320"/>
                </a:lnSpc>
              </a:pP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fox → 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71600" y="8983980"/>
            <a:ext cx="15636240" cy="617220"/>
            <a:chOff x="0" y="0"/>
            <a:chExt cx="20848320" cy="822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848320" cy="822960"/>
            </a:xfrm>
            <a:custGeom>
              <a:avLst/>
              <a:gdLst/>
              <a:ahLst/>
              <a:cxnLst/>
              <a:rect r="r" b="b" t="t" l="l"/>
              <a:pathLst>
                <a:path h="82296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3620" r="0" b="-44362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084832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Input context word indices = [1, 2, 4, 5]    Target word index = 3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34290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549104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839"/>
                </a:lnSpc>
              </a:pPr>
              <a:r>
                <a:rPr lang="en-US" sz="57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Embedding Lookup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65860"/>
            <a:ext cx="16322040" cy="480060"/>
            <a:chOff x="0" y="0"/>
            <a:chExt cx="2176272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640080"/>
            </a:xfrm>
            <a:custGeom>
              <a:avLst/>
              <a:gdLst/>
              <a:ahLst/>
              <a:cxnLst/>
              <a:rect r="r" b="b" t="t" l="l"/>
              <a:pathLst>
                <a:path h="6400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6272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Input embedding matrix E   (V = 15, D = 5)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714500" y="1783080"/>
          <a:ext cx="14820900" cy="7315200"/>
        </p:xfrm>
        <a:graphic>
          <a:graphicData uri="http://schemas.openxmlformats.org/drawingml/2006/table">
            <a:tbl>
              <a:tblPr/>
              <a:tblGrid>
                <a:gridCol w="1103684"/>
                <a:gridCol w="2117271"/>
                <a:gridCol w="2319989"/>
                <a:gridCol w="2319989"/>
                <a:gridCol w="2319989"/>
                <a:gridCol w="2319989"/>
                <a:gridCol w="2319989"/>
              </a:tblGrid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Index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quick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brown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fox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−0.09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jumps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−0.45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lazy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−0.08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−0.41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−0.09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into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forest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follows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−0.05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quickly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−0.42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6995160" y="9532620"/>
            <a:ext cx="4389120" cy="480060"/>
            <a:chOff x="0" y="0"/>
            <a:chExt cx="5852160" cy="640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2160" cy="640080"/>
            </a:xfrm>
            <a:custGeom>
              <a:avLst/>
              <a:gdLst/>
              <a:ahLst/>
              <a:cxnLst/>
              <a:rect r="r" b="b" t="t" l="l"/>
              <a:pathLst>
                <a:path h="640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85216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 ∈ R^(15×5)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8006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549104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Embedding Lookup for the 4 Context Words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371600"/>
            <a:ext cx="16184880" cy="480060"/>
            <a:chOff x="0" y="0"/>
            <a:chExt cx="2157984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640080"/>
            </a:xfrm>
            <a:custGeom>
              <a:avLst/>
              <a:gdLst/>
              <a:ahLst/>
              <a:cxnLst/>
              <a:rect r="r" b="b" t="t" l="l"/>
              <a:pathLst>
                <a:path h="64008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6924" r="0" b="-6069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Context words for target word “fox” with window size = 2: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71600" y="2194560"/>
            <a:ext cx="15361920" cy="685800"/>
            <a:chOff x="0" y="0"/>
            <a:chExt cx="2048256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1" cy="914400"/>
            </a:xfrm>
            <a:custGeom>
              <a:avLst/>
              <a:gdLst/>
              <a:ahLst/>
              <a:cxnLst/>
              <a:rect r="r" b="b" t="t" l="l"/>
              <a:pathLst>
                <a:path h="91440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6464" r="0" b="-38646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048256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quick   brown   [fox]   jumps   over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5315340">
            <a:off x="8734311" y="3389947"/>
            <a:ext cx="773668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2743200" y="4114800"/>
          <a:ext cx="12725400" cy="3333750"/>
        </p:xfrm>
        <a:graphic>
          <a:graphicData uri="http://schemas.openxmlformats.org/drawingml/2006/table">
            <a:tbl>
              <a:tblPr/>
              <a:tblGrid>
                <a:gridCol w="2744694"/>
                <a:gridCol w="1928091"/>
                <a:gridCol w="8052615"/>
              </a:tblGrid>
              <a:tr h="666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Index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Embedding (5 dimensions)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quick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 −0.21, 0.37, −0.11, 0.44, 0.18 ]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brown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[ 0.09, −0.27, 0.31, −0.36, 0.22 ]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jumps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[ 0.25, −0.16, 0.42, 0.33, −0.28 ]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 −0.32, 0.11, −0.45, 0.26, 0.37 ]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1371600" y="8366760"/>
            <a:ext cx="15499080" cy="617220"/>
            <a:chOff x="0" y="0"/>
            <a:chExt cx="20665440" cy="822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665439" cy="822960"/>
            </a:xfrm>
            <a:custGeom>
              <a:avLst/>
              <a:gdLst/>
              <a:ahLst/>
              <a:cxnLst/>
              <a:rect r="r" b="b" t="t" l="l"/>
              <a:pathLst>
                <a:path h="82296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9290" r="0" b="-43929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06654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These four rows are taken from the input embedding matrix E.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549104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After Lookup: 4 Embedding Vectors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440180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62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Rows correspond to quick, brown, jumps, over.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3154680" y="2880360"/>
          <a:ext cx="11906250" cy="3905250"/>
        </p:xfrm>
        <a:graphic>
          <a:graphicData uri="http://schemas.openxmlformats.org/drawingml/2006/table">
            <a:tbl>
              <a:tblPr/>
              <a:tblGrid>
                <a:gridCol w="1916726"/>
                <a:gridCol w="1997905"/>
                <a:gridCol w="1997905"/>
                <a:gridCol w="1997905"/>
                <a:gridCol w="1997905"/>
                <a:gridCol w="1997905"/>
              </a:tblGrid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quick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brown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jumps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−0.45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6035040" y="7475220"/>
            <a:ext cx="6172200" cy="685800"/>
            <a:chOff x="0" y="0"/>
            <a:chExt cx="82296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2960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82296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E_context ∈ R^(4×5)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34290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549104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Average the 4 Embeddings (CBOW)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714500" y="1303020"/>
          <a:ext cx="14801850" cy="2667000"/>
        </p:xfrm>
        <a:graphic>
          <a:graphicData uri="http://schemas.openxmlformats.org/drawingml/2006/table">
            <a:tbl>
              <a:tblPr/>
              <a:tblGrid>
                <a:gridCol w="2751189"/>
                <a:gridCol w="1659808"/>
                <a:gridCol w="10390853"/>
              </a:tblGrid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Index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Embedding (5 dimensions)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quick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 −0.21, 0.37, −0.11, 0.44, 0.18 ]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brown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[ 0.09, −0.27, 0.31, −0.36, 0.22 ]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jumps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[ 0.25, −0.16, 0.42, 0.33, −0.28 ]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 −0.32, 0.11, −0.45, 0.26, 0.37 ]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AutoShape 6" id="6"/>
          <p:cNvSpPr/>
          <p:nvPr/>
        </p:nvSpPr>
        <p:spPr>
          <a:xfrm rot="5297100">
            <a:off x="8802862" y="4418647"/>
            <a:ext cx="636556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" id="7"/>
          <p:cNvGrpSpPr/>
          <p:nvPr/>
        </p:nvGrpSpPr>
        <p:grpSpPr>
          <a:xfrm rot="0">
            <a:off x="1019175" y="4791075"/>
            <a:ext cx="16272510" cy="2487930"/>
            <a:chOff x="0" y="0"/>
            <a:chExt cx="21696680" cy="3317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96680" cy="3317240"/>
            </a:xfrm>
            <a:custGeom>
              <a:avLst/>
              <a:gdLst/>
              <a:ahLst/>
              <a:cxnLst/>
              <a:rect r="r" b="b" t="t" l="l"/>
              <a:pathLst>
                <a:path h="3317240" w="21696680">
                  <a:moveTo>
                    <a:pt x="0" y="0"/>
                  </a:moveTo>
                  <a:lnTo>
                    <a:pt x="21696680" y="0"/>
                  </a:lnTo>
                  <a:lnTo>
                    <a:pt x="21696680" y="3317240"/>
                  </a:lnTo>
                  <a:lnTo>
                    <a:pt x="0" y="3317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443" r="0" b="-77443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40180" y="5074920"/>
            <a:ext cx="15499080" cy="1920240"/>
            <a:chOff x="0" y="0"/>
            <a:chExt cx="20665440" cy="25603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665439" cy="2560320"/>
            </a:xfrm>
            <a:custGeom>
              <a:avLst/>
              <a:gdLst/>
              <a:ahLst/>
              <a:cxnLst/>
              <a:rect r="r" b="b" t="t" l="l"/>
              <a:pathLst>
                <a:path h="25603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272" r="0" b="-10727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0665440" cy="2579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 = 1/4 (e_quick + e_brown + e_jumps + e_over)</a:t>
              </a:r>
            </a:p>
            <a:p>
              <a:pPr algn="ctr">
                <a:lnSpc>
                  <a:spcPts val="3240"/>
                </a:lnSpc>
              </a:pP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 = 1/4 ([−0.21, 0.37, −0.11, 0.44, 0.18] + [0.09, −0.27, 0.31, −0.36, 0.22] +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[0.25, −0.16, 0.42, 0.33, −0.28] + [−0.32, 0.11, −0.45, 0.26, 0.37])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5284680">
            <a:off x="8837133" y="7607618"/>
            <a:ext cx="56801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3" id="13"/>
          <p:cNvGrpSpPr/>
          <p:nvPr/>
        </p:nvGrpSpPr>
        <p:grpSpPr>
          <a:xfrm rot="0">
            <a:off x="1499235" y="7920668"/>
            <a:ext cx="15792450" cy="1511749"/>
            <a:chOff x="0" y="0"/>
            <a:chExt cx="20325080" cy="1945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325080" cy="1945640"/>
            </a:xfrm>
            <a:custGeom>
              <a:avLst/>
              <a:gdLst/>
              <a:ahLst/>
              <a:cxnLst/>
              <a:rect r="r" b="b" t="t" l="l"/>
              <a:pathLst>
                <a:path h="1945640" w="20325080">
                  <a:moveTo>
                    <a:pt x="0" y="0"/>
                  </a:moveTo>
                  <a:lnTo>
                    <a:pt x="20325080" y="0"/>
                  </a:lnTo>
                  <a:lnTo>
                    <a:pt x="20325080" y="1945640"/>
                  </a:lnTo>
                  <a:lnTo>
                    <a:pt x="0" y="1945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3549" r="0" b="-153549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783080" y="8366760"/>
            <a:ext cx="14959965" cy="1151241"/>
            <a:chOff x="0" y="0"/>
            <a:chExt cx="19946620" cy="15349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946621" cy="1534988"/>
            </a:xfrm>
            <a:custGeom>
              <a:avLst/>
              <a:gdLst/>
              <a:ahLst/>
              <a:cxnLst/>
              <a:rect r="r" b="b" t="t" l="l"/>
              <a:pathLst>
                <a:path h="1534988" w="19946621">
                  <a:moveTo>
                    <a:pt x="0" y="0"/>
                  </a:moveTo>
                  <a:lnTo>
                    <a:pt x="19946621" y="0"/>
                  </a:lnTo>
                  <a:lnTo>
                    <a:pt x="19946621" y="1534988"/>
                  </a:lnTo>
                  <a:lnTo>
                    <a:pt x="0" y="15349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590" r="1897" b="-17520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9946620" cy="15540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Averaged context vector h = [−0.0475, 0.0125, 0.0425, 0.1675, 0.1225]     shape: 1 × 5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34290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549104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Output Weight Matrix W′  (5 × 15)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05740" y="1714500"/>
          <a:ext cx="17811750" cy="6286500"/>
        </p:xfrm>
        <a:graphic>
          <a:graphicData uri="http://schemas.openxmlformats.org/drawingml/2006/table">
            <a:tbl>
              <a:tblPr/>
              <a:tblGrid>
                <a:gridCol w="962193"/>
                <a:gridCol w="1123304"/>
                <a:gridCol w="1123304"/>
                <a:gridCol w="1123304"/>
                <a:gridCol w="1123304"/>
                <a:gridCol w="1123304"/>
                <a:gridCol w="1123304"/>
                <a:gridCol w="1123304"/>
                <a:gridCol w="1123304"/>
                <a:gridCol w="1123304"/>
                <a:gridCol w="1123304"/>
                <a:gridCol w="1123304"/>
                <a:gridCol w="1123304"/>
                <a:gridCol w="1123304"/>
                <a:gridCol w="1123304"/>
                <a:gridCol w="1123304"/>
              </a:tblGrid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Dim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the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quick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brown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fox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jumps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over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lazy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dog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and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runs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into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forest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follows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quickly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.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w′1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−0.06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w′2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−0.08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w′3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−0.09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−0.04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w′4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w′5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−0.07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−0.05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6995160" y="8572500"/>
            <a:ext cx="4389120" cy="685800"/>
            <a:chOff x="0" y="0"/>
            <a:chExt cx="585216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52160" cy="914400"/>
            </a:xfrm>
            <a:custGeom>
              <a:avLst/>
              <a:gdLst/>
              <a:ahLst/>
              <a:cxnLst/>
              <a:rect r="r" b="b" t="t" l="l"/>
              <a:pathLst>
                <a:path h="9144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8521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W′ ∈ R^(5×15)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34290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549104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Count Word Frequency in the Corpus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03020"/>
            <a:ext cx="16322040" cy="411480"/>
            <a:chOff x="0" y="0"/>
            <a:chExt cx="2176272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627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Example corpus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1704975"/>
            <a:ext cx="17088246" cy="1019661"/>
            <a:chOff x="0" y="0"/>
            <a:chExt cx="21879560" cy="1305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79561" cy="1305560"/>
            </a:xfrm>
            <a:custGeom>
              <a:avLst/>
              <a:gdLst/>
              <a:ahLst/>
              <a:cxnLst/>
              <a:rect r="r" b="b" t="t" l="l"/>
              <a:pathLst>
                <a:path h="1305560" w="21879561">
                  <a:moveTo>
                    <a:pt x="0" y="0"/>
                  </a:moveTo>
                  <a:lnTo>
                    <a:pt x="21879561" y="0"/>
                  </a:lnTo>
                  <a:lnTo>
                    <a:pt x="21879561" y="1305560"/>
                  </a:lnTo>
                  <a:lnTo>
                    <a:pt x="0" y="1305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6544" r="0" b="-276544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31570" y="1831086"/>
            <a:ext cx="16024860" cy="1001268"/>
            <a:chOff x="0" y="0"/>
            <a:chExt cx="21366480" cy="13350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66480" cy="1335024"/>
            </a:xfrm>
            <a:custGeom>
              <a:avLst/>
              <a:gdLst/>
              <a:ahLst/>
              <a:cxnLst/>
              <a:rect r="r" b="b" t="t" l="l"/>
              <a:pathLst>
                <a:path h="1335024" w="21366480">
                  <a:moveTo>
                    <a:pt x="0" y="0"/>
                  </a:moveTo>
                  <a:lnTo>
                    <a:pt x="21366480" y="0"/>
                  </a:lnTo>
                  <a:lnTo>
                    <a:pt x="21366480" y="1335024"/>
                  </a:lnTo>
                  <a:lnTo>
                    <a:pt x="0" y="1335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2983" r="1569" b="-23092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1366480" cy="13540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quick brown fox jumps over the lazy dog and the fox runs into the forest and the dog follows the fox quickly 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2948940"/>
            <a:ext cx="15773400" cy="617220"/>
            <a:chOff x="0" y="0"/>
            <a:chExt cx="21031200" cy="822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103120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Build the unigram distribution</a:t>
              </a:r>
            </a:p>
          </p:txBody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2743200" y="3771900"/>
          <a:ext cx="12744450" cy="4857750"/>
        </p:xfrm>
        <a:graphic>
          <a:graphicData uri="http://schemas.openxmlformats.org/drawingml/2006/table">
            <a:tbl>
              <a:tblPr/>
              <a:tblGrid>
                <a:gridCol w="4111846"/>
                <a:gridCol w="3430324"/>
                <a:gridCol w="5202280"/>
              </a:tblGrid>
              <a:tr h="285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Count f(w)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Probability P(w)=f(w)/Σf(w)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0.250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fox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0.125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quick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brown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jumps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lazy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into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forest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follows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quickly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tokens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7" id="17"/>
          <p:cNvGrpSpPr/>
          <p:nvPr/>
        </p:nvGrpSpPr>
        <p:grpSpPr>
          <a:xfrm rot="0">
            <a:off x="1371600" y="9258300"/>
            <a:ext cx="15499080" cy="480060"/>
            <a:chOff x="0" y="0"/>
            <a:chExt cx="2066544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665439" cy="640080"/>
            </a:xfrm>
            <a:custGeom>
              <a:avLst/>
              <a:gdLst/>
              <a:ahLst/>
              <a:cxnLst/>
              <a:rect r="r" b="b" t="t" l="l"/>
              <a:pathLst>
                <a:path h="64008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9088" r="0" b="-57908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06654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First count how often each word appears. This frequency table is the starting point for negative sampling.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34290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549104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839"/>
                </a:lnSpc>
              </a:pPr>
              <a:r>
                <a:rPr lang="en-US" sz="57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Raise Counts to 0.75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1234440"/>
            <a:ext cx="16184880" cy="480060"/>
            <a:chOff x="0" y="0"/>
            <a:chExt cx="2157984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640080"/>
            </a:xfrm>
            <a:custGeom>
              <a:avLst/>
              <a:gdLst/>
              <a:ahLst/>
              <a:cxnLst/>
              <a:rect r="r" b="b" t="t" l="l"/>
              <a:pathLst>
                <a:path h="64008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6924" r="0" b="-6069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57984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Negative sampling smooths raw word counts before selecting negative words.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988820"/>
            <a:ext cx="16322040" cy="754380"/>
            <a:chOff x="0" y="0"/>
            <a:chExt cx="2176272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2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1585" r="0" b="-3715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176272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f(w)^0.75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4114800" y="3086100"/>
          <a:ext cx="10134600" cy="5181600"/>
        </p:xfrm>
        <a:graphic>
          <a:graphicData uri="http://schemas.openxmlformats.org/drawingml/2006/table">
            <a:tbl>
              <a:tblPr/>
              <a:tblGrid>
                <a:gridCol w="3015440"/>
                <a:gridCol w="3015440"/>
                <a:gridCol w="4103719"/>
              </a:tblGrid>
              <a:tr h="323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Count f(w)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Smoothed score f(w)^0.75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3.83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fox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2.28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1.68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1.68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quick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brown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jumps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lazy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into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forest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follows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quickly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1165860" y="9258300"/>
            <a:ext cx="16047720" cy="548640"/>
            <a:chOff x="0" y="0"/>
            <a:chExt cx="2139696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96961" cy="731520"/>
            </a:xfrm>
            <a:custGeom>
              <a:avLst/>
              <a:gdLst/>
              <a:ahLst/>
              <a:cxnLst/>
              <a:rect r="r" b="b" t="t" l="l"/>
              <a:pathLst>
                <a:path h="73152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9937" r="0" b="-51993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1396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Frequent words still get higher scores, but the 0.75 power reduces their dominance.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117399" cy="10191037"/>
          </a:xfrm>
          <a:custGeom>
            <a:avLst/>
            <a:gdLst/>
            <a:ahLst/>
            <a:cxnLst/>
            <a:rect r="r" b="b" t="t" l="l"/>
            <a:pathLst>
              <a:path h="10191037" w="18117399">
                <a:moveTo>
                  <a:pt x="0" y="0"/>
                </a:moveTo>
                <a:lnTo>
                  <a:pt x="18117399" y="0"/>
                </a:lnTo>
                <a:lnTo>
                  <a:pt x="18117399" y="10191037"/>
                </a:lnTo>
                <a:lnTo>
                  <a:pt x="0" y="10191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34290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80"/>
                </a:lnSpc>
              </a:pPr>
              <a:r>
                <a:rPr lang="en-US" sz="465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Selected Output Vectors from W′ for Negative Sampling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234440"/>
            <a:ext cx="16322040" cy="548640"/>
            <a:chOff x="0" y="0"/>
            <a:chExt cx="217627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62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Choose one positive word and several negative sample words (columns) from the output matrix W′.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97280" y="2331720"/>
          <a:ext cx="15906750" cy="5257800"/>
        </p:xfrm>
        <a:graphic>
          <a:graphicData uri="http://schemas.openxmlformats.org/drawingml/2006/table">
            <a:tbl>
              <a:tblPr/>
              <a:tblGrid>
                <a:gridCol w="1516006"/>
                <a:gridCol w="2398457"/>
                <a:gridCol w="2398457"/>
                <a:gridCol w="2398457"/>
                <a:gridCol w="2398457"/>
                <a:gridCol w="2398457"/>
                <a:gridCol w="2398457"/>
              </a:tblGrid>
              <a:tr h="876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Dim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fox</a:t>
                      </a:r>
                      <a:endParaRPr lang="en-US" sz="1100"/>
                    </a:p>
                    <a:p>
                      <a:pPr algn="ctr">
                        <a:lnSpc>
                          <a:spcPts val="3060"/>
                        </a:lnSpc>
                      </a:pPr>
                      <a:r>
                        <a:rPr lang="en-US" sz="25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(positive)</a:t>
                      </a:r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dog</a:t>
                      </a:r>
                      <a:endParaRPr lang="en-US" sz="1100"/>
                    </a:p>
                    <a:p>
                      <a:pPr algn="ctr">
                        <a:lnSpc>
                          <a:spcPts val="3060"/>
                        </a:lnSpc>
                      </a:pPr>
                      <a:r>
                        <a:rPr lang="en-US" sz="25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(negative)</a:t>
                      </a:r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lazy</a:t>
                      </a:r>
                      <a:endParaRPr lang="en-US" sz="1100"/>
                    </a:p>
                    <a:p>
                      <a:pPr algn="ctr">
                        <a:lnSpc>
                          <a:spcPts val="3060"/>
                        </a:lnSpc>
                      </a:pPr>
                      <a:r>
                        <a:rPr lang="en-US" sz="25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(negative)</a:t>
                      </a:r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runs</a:t>
                      </a:r>
                      <a:endParaRPr lang="en-US" sz="1100"/>
                    </a:p>
                    <a:p>
                      <a:pPr algn="ctr">
                        <a:lnSpc>
                          <a:spcPts val="3060"/>
                        </a:lnSpc>
                      </a:pPr>
                      <a:r>
                        <a:rPr lang="en-US" sz="25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(negative)</a:t>
                      </a:r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forest</a:t>
                      </a:r>
                      <a:endParaRPr lang="en-US" sz="1100"/>
                    </a:p>
                    <a:p>
                      <a:pPr algn="ctr">
                        <a:lnSpc>
                          <a:spcPts val="3060"/>
                        </a:lnSpc>
                      </a:pPr>
                      <a:r>
                        <a:rPr lang="en-US" sz="25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(negative)</a:t>
                      </a:r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quickly</a:t>
                      </a:r>
                      <a:endParaRPr lang="en-US" sz="1100"/>
                    </a:p>
                    <a:p>
                      <a:pPr algn="ctr">
                        <a:lnSpc>
                          <a:spcPts val="3060"/>
                        </a:lnSpc>
                      </a:pPr>
                      <a:r>
                        <a:rPr lang="en-US" sz="25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(negative)</a:t>
                      </a:r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w′1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w′2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w′3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−0.04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w′4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w′5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−0.07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60"/>
                        </a:lnSpc>
                        <a:defRPr/>
                      </a:pPr>
                      <a:r>
                        <a:rPr lang="en-US" sz="25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−0.05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6720840" y="8092440"/>
            <a:ext cx="4800600" cy="617220"/>
            <a:chOff x="0" y="0"/>
            <a:chExt cx="6400800" cy="8229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0800" cy="822960"/>
            </a:xfrm>
            <a:custGeom>
              <a:avLst/>
              <a:gdLst/>
              <a:ahLst/>
              <a:cxnLst/>
              <a:rect r="r" b="b" t="t" l="l"/>
              <a:pathLst>
                <a:path h="8229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40080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W′selected ∈ R^(5×6)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1600" y="9121140"/>
            <a:ext cx="15499080" cy="617220"/>
            <a:chOff x="0" y="0"/>
            <a:chExt cx="20665440" cy="822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665439" cy="822960"/>
            </a:xfrm>
            <a:custGeom>
              <a:avLst/>
              <a:gdLst/>
              <a:ahLst/>
              <a:cxnLst/>
              <a:rect r="r" b="b" t="t" l="l"/>
              <a:pathLst>
                <a:path h="82296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9290" r="0" b="-43929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066544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negative sampling, take the positive word and sampled negative words from the output matrix W′.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342900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549104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From Average Vector to Logits and Probabilities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1165860"/>
            <a:ext cx="16184880" cy="480060"/>
            <a:chOff x="0" y="0"/>
            <a:chExt cx="2157984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640080"/>
            </a:xfrm>
            <a:custGeom>
              <a:avLst/>
              <a:gdLst/>
              <a:ahLst/>
              <a:cxnLst/>
              <a:rect r="r" b="b" t="t" l="l"/>
              <a:pathLst>
                <a:path h="64008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6924" r="0" b="-6069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57984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Negative Sampling uses sigmoid, not softmax.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4795" y="1910715"/>
            <a:ext cx="3173730" cy="6739890"/>
            <a:chOff x="0" y="0"/>
            <a:chExt cx="4231640" cy="8986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31640" cy="8986520"/>
            </a:xfrm>
            <a:custGeom>
              <a:avLst/>
              <a:gdLst/>
              <a:ahLst/>
              <a:cxnLst/>
              <a:rect r="r" b="b" t="t" l="l"/>
              <a:pathLst>
                <a:path h="8986520" w="4231640">
                  <a:moveTo>
                    <a:pt x="0" y="0"/>
                  </a:moveTo>
                  <a:lnTo>
                    <a:pt x="4231640" y="0"/>
                  </a:lnTo>
                  <a:lnTo>
                    <a:pt x="4231640" y="8986520"/>
                  </a:lnTo>
                  <a:lnTo>
                    <a:pt x="0" y="8986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2471" t="0" r="-222471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480060" y="2263140"/>
            <a:ext cx="2743200" cy="5897880"/>
            <a:chOff x="0" y="0"/>
            <a:chExt cx="3657600" cy="7863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57600" cy="7863840"/>
            </a:xfrm>
            <a:custGeom>
              <a:avLst/>
              <a:gdLst/>
              <a:ahLst/>
              <a:cxnLst/>
              <a:rect r="r" b="b" t="t" l="l"/>
              <a:pathLst>
                <a:path h="78638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863840"/>
                  </a:lnTo>
                  <a:lnTo>
                    <a:pt x="0" y="786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5852" t="0" r="-22585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657600" cy="7882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Average context vector</a:t>
              </a:r>
            </a:p>
            <a:p>
              <a:pPr algn="ctr">
                <a:lnSpc>
                  <a:spcPts val="3240"/>
                </a:lnSpc>
              </a:pP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 =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[−0.0475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0.0125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0.0425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0.1675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0.1225]</a:t>
              </a:r>
            </a:p>
            <a:p>
              <a:pPr algn="ctr">
                <a:lnSpc>
                  <a:spcPts val="3240"/>
                </a:lnSpc>
              </a:pP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shape 1×5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625215" y="1910715"/>
            <a:ext cx="5779770" cy="6739890"/>
            <a:chOff x="0" y="0"/>
            <a:chExt cx="7706360" cy="8986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06360" cy="8986520"/>
            </a:xfrm>
            <a:custGeom>
              <a:avLst/>
              <a:gdLst/>
              <a:ahLst/>
              <a:cxnLst/>
              <a:rect r="r" b="b" t="t" l="l"/>
              <a:pathLst>
                <a:path h="8986520" w="7706360">
                  <a:moveTo>
                    <a:pt x="0" y="0"/>
                  </a:moveTo>
                  <a:lnTo>
                    <a:pt x="7706360" y="0"/>
                  </a:lnTo>
                  <a:lnTo>
                    <a:pt x="7706360" y="8986520"/>
                  </a:lnTo>
                  <a:lnTo>
                    <a:pt x="0" y="8986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9617" t="0" r="-99617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3840480" y="2194560"/>
            <a:ext cx="5349240" cy="685800"/>
            <a:chOff x="0" y="0"/>
            <a:chExt cx="713232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32320" cy="914400"/>
            </a:xfrm>
            <a:custGeom>
              <a:avLst/>
              <a:gdLst/>
              <a:ahLst/>
              <a:cxnLst/>
              <a:rect r="r" b="b" t="t" l="l"/>
              <a:pathLst>
                <a:path h="9144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713232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Selected output vectors from W′</a:t>
              </a:r>
            </a:p>
          </p:txBody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3909060" y="3360420"/>
          <a:ext cx="5181600" cy="3543300"/>
        </p:xfrm>
        <a:graphic>
          <a:graphicData uri="http://schemas.openxmlformats.org/drawingml/2006/table">
            <a:tbl>
              <a:tblPr/>
              <a:tblGrid>
                <a:gridCol w="615810"/>
                <a:gridCol w="760965"/>
                <a:gridCol w="760965"/>
                <a:gridCol w="760965"/>
                <a:gridCol w="760965"/>
                <a:gridCol w="760965"/>
                <a:gridCol w="760965"/>
              </a:tblGrid>
              <a:tr h="590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fox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dog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lazy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runs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forest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quickly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w′1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w′2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w′3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−0.04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w′4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0.16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w′5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−0.33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−0.07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−0.19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−0.23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20"/>
                        </a:lnSpc>
                        <a:defRPr/>
                      </a:pPr>
                      <a:r>
                        <a:rPr lang="en-US" sz="13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−0.05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9" id="19"/>
          <p:cNvGrpSpPr/>
          <p:nvPr/>
        </p:nvGrpSpPr>
        <p:grpSpPr>
          <a:xfrm rot="0">
            <a:off x="5212080" y="7338060"/>
            <a:ext cx="2606040" cy="411480"/>
            <a:chOff x="0" y="0"/>
            <a:chExt cx="347472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34747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shape 5×6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115320">
            <a:off x="9522933" y="5275897"/>
            <a:ext cx="56801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3" id="23"/>
          <p:cNvGrpSpPr/>
          <p:nvPr/>
        </p:nvGrpSpPr>
        <p:grpSpPr>
          <a:xfrm rot="0">
            <a:off x="10208895" y="1910715"/>
            <a:ext cx="2762250" cy="6739890"/>
            <a:chOff x="0" y="0"/>
            <a:chExt cx="3683000" cy="8986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83000" cy="8986520"/>
            </a:xfrm>
            <a:custGeom>
              <a:avLst/>
              <a:gdLst/>
              <a:ahLst/>
              <a:cxnLst/>
              <a:rect r="r" b="b" t="t" l="l"/>
              <a:pathLst>
                <a:path h="8986520" w="3683000">
                  <a:moveTo>
                    <a:pt x="0" y="0"/>
                  </a:moveTo>
                  <a:lnTo>
                    <a:pt x="3683000" y="0"/>
                  </a:lnTo>
                  <a:lnTo>
                    <a:pt x="3683000" y="8986520"/>
                  </a:lnTo>
                  <a:lnTo>
                    <a:pt x="0" y="8986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3060" t="0" r="-263060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355580" y="2194560"/>
            <a:ext cx="2468880" cy="1028700"/>
            <a:chOff x="0" y="0"/>
            <a:chExt cx="3291840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918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32918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Logits / Scores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z = hW′selected</a:t>
              </a:r>
            </a:p>
          </p:txBody>
        </p:sp>
      </p:grpSp>
      <p:graphicFrame>
        <p:nvGraphicFramePr>
          <p:cNvPr name="Table 28" id="28"/>
          <p:cNvGraphicFramePr>
            <a:graphicFrameLocks noGrp="true"/>
          </p:cNvGraphicFramePr>
          <p:nvPr/>
        </p:nvGraphicFramePr>
        <p:xfrm>
          <a:off x="10424160" y="3634740"/>
          <a:ext cx="2324100" cy="3733800"/>
        </p:xfrm>
        <a:graphic>
          <a:graphicData uri="http://schemas.openxmlformats.org/drawingml/2006/table">
            <a:tbl>
              <a:tblPr/>
              <a:tblGrid>
                <a:gridCol w="1162050"/>
                <a:gridCol w="1162050"/>
              </a:tblGrid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Score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fox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0.0071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0.0369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lazy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−0.0195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0.0169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forest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0.0140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quickly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0.0290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AutoShape 29" id="29"/>
          <p:cNvSpPr/>
          <p:nvPr/>
        </p:nvSpPr>
        <p:spPr>
          <a:xfrm rot="115320">
            <a:off x="13089093" y="5275897"/>
            <a:ext cx="56801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13775055" y="1910715"/>
            <a:ext cx="1802130" cy="6739890"/>
            <a:chOff x="0" y="0"/>
            <a:chExt cx="2402840" cy="8986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02840" cy="8986520"/>
            </a:xfrm>
            <a:custGeom>
              <a:avLst/>
              <a:gdLst/>
              <a:ahLst/>
              <a:cxnLst/>
              <a:rect r="r" b="b" t="t" l="l"/>
              <a:pathLst>
                <a:path h="8986520" w="2402840">
                  <a:moveTo>
                    <a:pt x="0" y="0"/>
                  </a:moveTo>
                  <a:lnTo>
                    <a:pt x="2402840" y="0"/>
                  </a:lnTo>
                  <a:lnTo>
                    <a:pt x="2402840" y="8986520"/>
                  </a:lnTo>
                  <a:lnTo>
                    <a:pt x="0" y="8986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29849" t="0" r="-429849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880592" y="2331720"/>
            <a:ext cx="1643091" cy="5623560"/>
            <a:chOff x="0" y="0"/>
            <a:chExt cx="2190788" cy="7498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0788" cy="7498080"/>
            </a:xfrm>
            <a:custGeom>
              <a:avLst/>
              <a:gdLst/>
              <a:ahLst/>
              <a:cxnLst/>
              <a:rect r="r" b="b" t="t" l="l"/>
              <a:pathLst>
                <a:path h="7498080" w="2190788">
                  <a:moveTo>
                    <a:pt x="0" y="0"/>
                  </a:moveTo>
                  <a:lnTo>
                    <a:pt x="2190788" y="0"/>
                  </a:lnTo>
                  <a:lnTo>
                    <a:pt x="2190788" y="7498080"/>
                  </a:lnTo>
                  <a:lnTo>
                    <a:pt x="0" y="7498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1126" t="0" r="-387124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2190788" cy="7517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Apply sigmoid</a:t>
              </a:r>
            </a:p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σ(x)=1/(1+e^(−x))</a:t>
              </a:r>
            </a:p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Each selected word is treated independently.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115320">
            <a:off x="15695133" y="5275897"/>
            <a:ext cx="56801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6" id="36"/>
          <p:cNvGrpSpPr/>
          <p:nvPr/>
        </p:nvGrpSpPr>
        <p:grpSpPr>
          <a:xfrm rot="0">
            <a:off x="16312515" y="1910715"/>
            <a:ext cx="1733550" cy="6739890"/>
            <a:chOff x="0" y="0"/>
            <a:chExt cx="2311400" cy="8986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11400" cy="8986520"/>
            </a:xfrm>
            <a:custGeom>
              <a:avLst/>
              <a:gdLst/>
              <a:ahLst/>
              <a:cxnLst/>
              <a:rect r="r" b="b" t="t" l="l"/>
              <a:pathLst>
                <a:path h="8986520" w="2311400">
                  <a:moveTo>
                    <a:pt x="0" y="0"/>
                  </a:moveTo>
                  <a:lnTo>
                    <a:pt x="2311400" y="0"/>
                  </a:lnTo>
                  <a:lnTo>
                    <a:pt x="2311400" y="8986520"/>
                  </a:lnTo>
                  <a:lnTo>
                    <a:pt x="0" y="8986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8833" t="0" r="-448833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6390620" y="2263140"/>
            <a:ext cx="1577340" cy="1202680"/>
            <a:chOff x="0" y="0"/>
            <a:chExt cx="2103120" cy="16035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03120" cy="1603573"/>
            </a:xfrm>
            <a:custGeom>
              <a:avLst/>
              <a:gdLst/>
              <a:ahLst/>
              <a:cxnLst/>
              <a:rect r="r" b="b" t="t" l="l"/>
              <a:pathLst>
                <a:path h="1603573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1603573"/>
                  </a:lnTo>
                  <a:lnTo>
                    <a:pt x="0" y="16035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519" t="0" r="-22519" b="2587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2103120" cy="1613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Prob.</a:t>
              </a:r>
            </a:p>
            <a:p>
              <a:pPr algn="ctr">
                <a:lnSpc>
                  <a:spcPts val="2879"/>
                </a:lnSpc>
              </a:pP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p=σ(z)</a:t>
              </a:r>
            </a:p>
          </p:txBody>
        </p:sp>
      </p:grpSp>
      <p:graphicFrame>
        <p:nvGraphicFramePr>
          <p:cNvPr name="Table 41" id="41"/>
          <p:cNvGraphicFramePr>
            <a:graphicFrameLocks noGrp="true"/>
          </p:cNvGraphicFramePr>
          <p:nvPr/>
        </p:nvGraphicFramePr>
        <p:xfrm>
          <a:off x="16431768" y="3634740"/>
          <a:ext cx="1428750" cy="3733800"/>
        </p:xfrm>
        <a:graphic>
          <a:graphicData uri="http://schemas.openxmlformats.org/drawingml/2006/table">
            <a:tbl>
              <a:tblPr/>
              <a:tblGrid>
                <a:gridCol w="760535"/>
                <a:gridCol w="668215"/>
              </a:tblGrid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Word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fox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0.5018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dog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0.5092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lazy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0.4951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runs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0.5042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forest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0.5035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quickly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43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0.5072</a:t>
                      </a:r>
                      <a:endParaRPr lang="en-US" sz="1100"/>
                    </a:p>
                  </a:txBody>
                  <a:tcPr marL="18288" marR="18288" marT="18288" marB="18288" anchor="t">
                    <a:lnL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42" id="42"/>
          <p:cNvGrpSpPr/>
          <p:nvPr/>
        </p:nvGrpSpPr>
        <p:grpSpPr>
          <a:xfrm rot="0">
            <a:off x="960120" y="9395460"/>
            <a:ext cx="16459200" cy="480060"/>
            <a:chOff x="0" y="0"/>
            <a:chExt cx="21945600" cy="640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0" cy="640080"/>
            </a:xfrm>
            <a:custGeom>
              <a:avLst/>
              <a:gdLst/>
              <a:ahLst/>
              <a:cxnLst/>
              <a:rect r="r" b="b" t="t" l="l"/>
              <a:pathLst>
                <a:path h="6400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8058" r="0" b="-61805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21945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Use sigmoid for each selected word independently — not softmax over the whole vocabulary.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301752"/>
            <a:ext cx="16911828" cy="822960"/>
            <a:chOff x="0" y="0"/>
            <a:chExt cx="22549104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417" r="0" b="-3504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80"/>
                </a:lnSpc>
              </a:pPr>
              <a:r>
                <a:rPr lang="en-US" sz="465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CBOW with Negative Sampling: Full Process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3375" y="1087755"/>
            <a:ext cx="4271010" cy="1596390"/>
            <a:chOff x="0" y="0"/>
            <a:chExt cx="5694680" cy="2128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946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694680">
                  <a:moveTo>
                    <a:pt x="0" y="0"/>
                  </a:moveTo>
                  <a:lnTo>
                    <a:pt x="5694680" y="0"/>
                  </a:lnTo>
                  <a:lnTo>
                    <a:pt x="5694680" y="2128520"/>
                  </a:lnTo>
                  <a:lnTo>
                    <a:pt x="0" y="2128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0" r="0" b="-213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548640" y="1303020"/>
            <a:ext cx="3840480" cy="1097280"/>
            <a:chOff x="0" y="0"/>
            <a:chExt cx="512064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20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1206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Context window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quick, brown, [fox], jumps, over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131160">
            <a:off x="4722314" y="1846898"/>
            <a:ext cx="49947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" id="11"/>
          <p:cNvGrpSpPr/>
          <p:nvPr/>
        </p:nvGrpSpPr>
        <p:grpSpPr>
          <a:xfrm rot="0">
            <a:off x="5339715" y="1087755"/>
            <a:ext cx="4271010" cy="1596390"/>
            <a:chOff x="0" y="0"/>
            <a:chExt cx="5694680" cy="2128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946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694680">
                  <a:moveTo>
                    <a:pt x="0" y="0"/>
                  </a:moveTo>
                  <a:lnTo>
                    <a:pt x="5694680" y="0"/>
                  </a:lnTo>
                  <a:lnTo>
                    <a:pt x="5694680" y="2128520"/>
                  </a:lnTo>
                  <a:lnTo>
                    <a:pt x="0" y="2128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0" r="0" b="-213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554980" y="1303020"/>
            <a:ext cx="3840480" cy="1097280"/>
            <a:chOff x="0" y="0"/>
            <a:chExt cx="512064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20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1206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Embedding lookup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quick, brown, jumps, over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131160">
            <a:off x="9728654" y="1846898"/>
            <a:ext cx="49947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7" id="17"/>
          <p:cNvGrpSpPr/>
          <p:nvPr/>
        </p:nvGrpSpPr>
        <p:grpSpPr>
          <a:xfrm rot="0">
            <a:off x="10346055" y="1087755"/>
            <a:ext cx="4271010" cy="1596390"/>
            <a:chOff x="0" y="0"/>
            <a:chExt cx="5694680" cy="2128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946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694680">
                  <a:moveTo>
                    <a:pt x="0" y="0"/>
                  </a:moveTo>
                  <a:lnTo>
                    <a:pt x="5694680" y="0"/>
                  </a:lnTo>
                  <a:lnTo>
                    <a:pt x="5694680" y="2128520"/>
                  </a:lnTo>
                  <a:lnTo>
                    <a:pt x="0" y="2128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30" r="0" b="-213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561320" y="1261872"/>
            <a:ext cx="3840480" cy="1165860"/>
            <a:chOff x="0" y="0"/>
            <a:chExt cx="5120640" cy="15544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06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86" r="0" b="-1418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512064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Average context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 = [−0.0475, 0.0125, 0.0425, 0.1675, 0.1225]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131160">
            <a:off x="14734994" y="1846898"/>
            <a:ext cx="49947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3" id="23"/>
          <p:cNvGrpSpPr/>
          <p:nvPr/>
        </p:nvGrpSpPr>
        <p:grpSpPr>
          <a:xfrm rot="0">
            <a:off x="15352395" y="1087755"/>
            <a:ext cx="2625090" cy="1596390"/>
            <a:chOff x="0" y="0"/>
            <a:chExt cx="3500120" cy="2128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00120" cy="2128520"/>
            </a:xfrm>
            <a:custGeom>
              <a:avLst/>
              <a:gdLst/>
              <a:ahLst/>
              <a:cxnLst/>
              <a:rect r="r" b="b" t="t" l="l"/>
              <a:pathLst>
                <a:path h="2128520" w="3500120">
                  <a:moveTo>
                    <a:pt x="0" y="0"/>
                  </a:moveTo>
                  <a:lnTo>
                    <a:pt x="3500120" y="0"/>
                  </a:lnTo>
                  <a:lnTo>
                    <a:pt x="3500120" y="2128520"/>
                  </a:lnTo>
                  <a:lnTo>
                    <a:pt x="0" y="2128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024" t="0" r="-28024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5499080" y="1303020"/>
            <a:ext cx="2331720" cy="1097280"/>
            <a:chOff x="0" y="0"/>
            <a:chExt cx="310896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108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378" t="0" r="-1037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310896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Negative sampling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fox + 5 negatives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33375" y="3213735"/>
            <a:ext cx="4476750" cy="1733550"/>
            <a:chOff x="0" y="0"/>
            <a:chExt cx="5969000" cy="2311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690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2311400"/>
                  </a:lnTo>
                  <a:lnTo>
                    <a:pt x="0" y="2311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" r="0" b="-318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48640" y="3139958"/>
            <a:ext cx="4046220" cy="1564630"/>
            <a:chOff x="0" y="0"/>
            <a:chExt cx="5394960" cy="20861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94960" cy="2086173"/>
            </a:xfrm>
            <a:custGeom>
              <a:avLst/>
              <a:gdLst/>
              <a:ahLst/>
              <a:cxnLst/>
              <a:rect r="r" b="b" t="t" l="l"/>
              <a:pathLst>
                <a:path h="2086173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2086173"/>
                  </a:lnTo>
                  <a:lnTo>
                    <a:pt x="0" y="20861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41" r="0" b="1016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394960" cy="20956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Selected output vectors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fox, dog, lazy, runs, forest, quickly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from W′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rot="115320">
            <a:off x="4928073" y="4041458"/>
            <a:ext cx="56801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5614035" y="3213735"/>
            <a:ext cx="3448050" cy="1733550"/>
            <a:chOff x="0" y="0"/>
            <a:chExt cx="4597400" cy="2311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5974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4597400">
                  <a:moveTo>
                    <a:pt x="0" y="0"/>
                  </a:moveTo>
                  <a:lnTo>
                    <a:pt x="4597400" y="0"/>
                  </a:lnTo>
                  <a:lnTo>
                    <a:pt x="4597400" y="2311400"/>
                  </a:lnTo>
                  <a:lnTo>
                    <a:pt x="0" y="2311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506" t="0" r="-14506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5829300" y="3442716"/>
            <a:ext cx="3017520" cy="1234440"/>
            <a:chOff x="0" y="0"/>
            <a:chExt cx="4023360" cy="16459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233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402336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Compute scores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 = h W′selected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shape: 1×6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115320">
            <a:off x="9180033" y="4041458"/>
            <a:ext cx="56801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0" id="40"/>
          <p:cNvGrpSpPr/>
          <p:nvPr/>
        </p:nvGrpSpPr>
        <p:grpSpPr>
          <a:xfrm rot="0">
            <a:off x="9865995" y="3213735"/>
            <a:ext cx="3516630" cy="1733550"/>
            <a:chOff x="0" y="0"/>
            <a:chExt cx="4688840" cy="2311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88840" cy="2311400"/>
            </a:xfrm>
            <a:custGeom>
              <a:avLst/>
              <a:gdLst/>
              <a:ahLst/>
              <a:cxnLst/>
              <a:rect r="r" b="b" t="t" l="l"/>
              <a:pathLst>
                <a:path h="2311400" w="4688840">
                  <a:moveTo>
                    <a:pt x="0" y="0"/>
                  </a:moveTo>
                  <a:lnTo>
                    <a:pt x="4688840" y="0"/>
                  </a:lnTo>
                  <a:lnTo>
                    <a:pt x="4688840" y="2311400"/>
                  </a:lnTo>
                  <a:lnTo>
                    <a:pt x="0" y="2311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48" t="0" r="-13248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081260" y="3442716"/>
            <a:ext cx="3086100" cy="1234440"/>
            <a:chOff x="0" y="0"/>
            <a:chExt cx="4114800" cy="16459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1148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41148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Apply sigmoid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positive → close to 1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negative → close to 0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 rot="115320">
            <a:off x="13500573" y="4041458"/>
            <a:ext cx="56801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6" id="46"/>
          <p:cNvGrpSpPr/>
          <p:nvPr/>
        </p:nvGrpSpPr>
        <p:grpSpPr>
          <a:xfrm rot="0">
            <a:off x="14186535" y="3213735"/>
            <a:ext cx="3516630" cy="1733550"/>
            <a:chOff x="0" y="0"/>
            <a:chExt cx="4688840" cy="2311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688840" cy="2311400"/>
            </a:xfrm>
            <a:custGeom>
              <a:avLst/>
              <a:gdLst/>
              <a:ahLst/>
              <a:cxnLst/>
              <a:rect r="r" b="b" t="t" l="l"/>
              <a:pathLst>
                <a:path h="2311400" w="4688840">
                  <a:moveTo>
                    <a:pt x="0" y="0"/>
                  </a:moveTo>
                  <a:lnTo>
                    <a:pt x="4688840" y="0"/>
                  </a:lnTo>
                  <a:lnTo>
                    <a:pt x="4688840" y="2311400"/>
                  </a:lnTo>
                  <a:lnTo>
                    <a:pt x="0" y="2311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48" t="0" r="-13248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4401800" y="3470148"/>
            <a:ext cx="3086100" cy="1234440"/>
            <a:chOff x="0" y="0"/>
            <a:chExt cx="4114800" cy="16459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1148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411480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Negative sampling loss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 = −log σ(z_fox) − Σ log σ(−z_neg)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87755" y="5545455"/>
            <a:ext cx="7700010" cy="2145030"/>
            <a:chOff x="0" y="0"/>
            <a:chExt cx="10266680" cy="28600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2666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266680">
                  <a:moveTo>
                    <a:pt x="0" y="0"/>
                  </a:moveTo>
                  <a:lnTo>
                    <a:pt x="10266680" y="0"/>
                  </a:lnTo>
                  <a:lnTo>
                    <a:pt x="10266680" y="2860040"/>
                  </a:lnTo>
                  <a:lnTo>
                    <a:pt x="0" y="2860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45" r="0" b="-19945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440180" y="5486400"/>
            <a:ext cx="6995160" cy="2263140"/>
            <a:chOff x="0" y="0"/>
            <a:chExt cx="9326880" cy="3017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326880" cy="3017520"/>
            </a:xfrm>
            <a:custGeom>
              <a:avLst/>
              <a:gdLst/>
              <a:ahLst/>
              <a:cxnLst/>
              <a:rect r="r" b="b" t="t" l="l"/>
              <a:pathLst>
                <a:path h="3017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377" r="0" b="492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9326880" cy="3036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Which weights update?</a:t>
              </a:r>
            </a:p>
            <a:p>
              <a:pPr algn="ctr">
                <a:lnSpc>
                  <a:spcPts val="3240"/>
                </a:lnSpc>
              </a:pP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Input embedding matrix E: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update only context word rows: quick, brown, jumps, over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454515" y="5545455"/>
            <a:ext cx="7700010" cy="2145030"/>
            <a:chOff x="0" y="0"/>
            <a:chExt cx="10266680" cy="2860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666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266680">
                  <a:moveTo>
                    <a:pt x="0" y="0"/>
                  </a:moveTo>
                  <a:lnTo>
                    <a:pt x="10266680" y="0"/>
                  </a:lnTo>
                  <a:lnTo>
                    <a:pt x="10266680" y="2860040"/>
                  </a:lnTo>
                  <a:lnTo>
                    <a:pt x="0" y="2860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45" r="0" b="-19945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806940" y="5966460"/>
            <a:ext cx="6995160" cy="1234440"/>
            <a:chOff x="0" y="0"/>
            <a:chExt cx="9326880" cy="16459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3268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93268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Output matrix W′ or U: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update only selected output vectors: fox, dog, lazy, runs, forest, quickly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71600" y="8161020"/>
            <a:ext cx="15499080" cy="480060"/>
            <a:chOff x="0" y="0"/>
            <a:chExt cx="20665440" cy="640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665439" cy="640080"/>
            </a:xfrm>
            <a:custGeom>
              <a:avLst/>
              <a:gdLst/>
              <a:ahLst/>
              <a:cxnLst/>
              <a:rect r="r" b="b" t="t" l="l"/>
              <a:pathLst>
                <a:path h="64008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9088" r="0" b="-57908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206654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All other vocabulary words are not updated in this training step.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71600" y="8983980"/>
            <a:ext cx="15499080" cy="480060"/>
            <a:chOff x="0" y="0"/>
            <a:chExt cx="20665440" cy="6400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0665439" cy="640080"/>
            </a:xfrm>
            <a:custGeom>
              <a:avLst/>
              <a:gdLst/>
              <a:ahLst/>
              <a:cxnLst/>
              <a:rect r="r" b="b" t="t" l="l"/>
              <a:pathLst>
                <a:path h="64008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9088" r="0" b="-57908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2066544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Training pushes the positive target score up and negative sample scores down.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DAHVvvoyryQ</dc:identifier>
  <dcterms:modified xsi:type="dcterms:W3CDTF">2011-08-01T06:04:30Z</dcterms:modified>
  <cp:revision>1</cp:revision>
  <dc:title>word2vec by ananda rimal</dc:title>
</cp:coreProperties>
</file>